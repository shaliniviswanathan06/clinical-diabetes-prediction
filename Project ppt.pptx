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type="screen16x9" cy="6858000" cx="12192000"/>
  <p:notesSz cx="6858000" cy="9144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404EE65B-5B3F-4B7A-AB99-EEA04E0E603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p="http://schemas.openxmlformats.org/presentationml/2006/main" xmlns:r="http://schemas.openxmlformats.org/officeDocument/2006/relationships" xmlns:a="http://schemas.openxmlformats.org/drawingml/2006/main" showComments="0">
  <p:slideViewPr>
    <p:cSldViewPr snapToGrid="0">
      <p:cViewPr varScale="1">
        <p:scale>
          <a:sx n="100" d="100"/>
          <a:sy n="100" d="100"/>
        </p:scale>
        <p:origin x="0" y="0"/>
      </p:cViewPr>
      <p:guideLst>
        <p:guide orient="horz" pos="2160"/>
        <p:guide pos="384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tableStyles" Target="tableStyles.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p:bgPr>
    </p:bg>
    <p:spTree>
      <p:nvGrpSpPr>
        <p:cNvPr id="229" name="Shape 2"/>
        <p:cNvGrpSpPr/>
        <p:nvPr/>
      </p:nvGrpSpPr>
      <p:grpSpPr>
        <a:xfrm>
          <a:off x="0" y="0"/>
          <a:ext cx="0" cy="0"/>
          <a:chOff x="0" y="0"/>
          <a:chExt cx="0" cy="0"/>
        </a:xfrm>
      </p:grpSpPr>
      <p:sp>
        <p:nvSpPr>
          <p:cNvPr id="1048933" name="Google Shape;3;n"/>
          <p:cNvSpPr txBox="1"/>
          <p:nvPr>
            <p:ph type="hdr" idx="2"/>
          </p:nvPr>
        </p:nvSpPr>
        <p:spPr>
          <a:xfrm>
            <a:off x="0" y="0"/>
            <a:ext cx="2971800" cy="458788"/>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934" name="Google Shape;4;n"/>
          <p:cNvSpPr txBox="1"/>
          <p:nvPr>
            <p:ph type="dt" idx="10"/>
          </p:nvPr>
        </p:nvSpPr>
        <p:spPr>
          <a:xfrm>
            <a:off x="3884613" y="0"/>
            <a:ext cx="2971800" cy="458788"/>
          </a:xfrm>
          <a:prstGeom prst="rect"/>
          <a:noFill/>
          <a:ln>
            <a:noFill/>
          </a:ln>
        </p:spPr>
        <p:txBody>
          <a:bodyPr anchor="t" anchorCtr="0" bIns="45700" lIns="91425" rIns="91425" spcFirstLastPara="1" tIns="45700" wrap="square">
            <a:noAutofit/>
          </a:bodyPr>
          <a:lstStyle>
            <a:lvl1pPr algn="r" lvl="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935" name="Google Shape;5;n"/>
          <p:cNvSpPr/>
          <p:nvPr>
            <p:ph type="sldImg" idx="3"/>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936" name="Google Shape;6;n"/>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lstStyle>
            <a:lvl1pPr algn="l" indent="-228600" lvl="0" marL="4572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1pPr>
            <a:lvl2pPr algn="l" indent="-228600" lvl="1" marL="9144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2pPr>
            <a:lvl3pPr algn="l" indent="-228600" lvl="2" marL="13716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3pPr>
            <a:lvl4pPr algn="l" indent="-228600" lvl="3" marL="18288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4pPr>
            <a:lvl5pPr algn="l" indent="-228600" lvl="4" marL="22860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5pPr>
            <a:lvl6pPr algn="l" indent="-228600" lvl="5" marL="27432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6pPr>
            <a:lvl7pPr algn="l" indent="-228600" lvl="6" marL="32004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7pPr>
            <a:lvl8pPr algn="l" indent="-228600" lvl="7" marL="36576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8pPr>
            <a:lvl9pPr algn="l" indent="-228600" lvl="8" marL="411480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9pPr>
          </a:lstStyle>
          <a:p/>
        </p:txBody>
      </p:sp>
      <p:sp>
        <p:nvSpPr>
          <p:cNvPr id="1048937" name="Google Shape;7;n"/>
          <p:cNvSpPr txBox="1"/>
          <p:nvPr>
            <p:ph type="ftr" idx="11"/>
          </p:nvPr>
        </p:nvSpPr>
        <p:spPr>
          <a:xfrm>
            <a:off x="0" y="8685213"/>
            <a:ext cx="2971800" cy="458787"/>
          </a:xfrm>
          <a:prstGeom prst="rect"/>
          <a:noFill/>
          <a:ln>
            <a:noFill/>
          </a:ln>
        </p:spPr>
        <p:txBody>
          <a:bodyPr anchor="b"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2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938" name="Google Shape;8;n"/>
          <p:cNvSpPr txBox="1"/>
          <p:nvPr>
            <p:ph type="sldNum" idx="12"/>
          </p:nvPr>
        </p:nvSpPr>
        <p:spPr>
          <a:xfrm>
            <a:off x="3884613" y="8685213"/>
            <a:ext cx="2971800" cy="458787"/>
          </a:xfrm>
          <a:prstGeom prst="rect"/>
          <a:noFill/>
          <a:ln>
            <a:noFill/>
          </a:ln>
        </p:spPr>
        <p:txBody>
          <a:bodyPr anchor="b" anchorCtr="0" bIns="45700" lIns="91425" rIns="91425" spcFirstLastPara="1" tIns="45700" wrap="square">
            <a:noAutofit/>
          </a:bodyPr>
          <a:p>
            <a:pPr algn="r" indent="0" lvl="0" marL="0" marR="0" rtl="0">
              <a:lnSpc>
                <a:spcPct val="100000"/>
              </a:lnSpc>
              <a:spcBef>
                <a:spcPts val="0"/>
              </a:spcBef>
              <a:spcAft>
                <a:spcPts val="0"/>
              </a:spcAft>
              <a:buClr>
                <a:srgbClr val="000000"/>
              </a:buClr>
              <a:buSzPts val="1200"/>
              <a:buFont typeface="Arial"/>
              <a:buNone/>
            </a:pPr>
            <a:fld id="{00000000-1234-1234-1234-123412341234}" type="slidenum">
              <a:rPr b="0" cap="none" sz="1200" i="0" lang="en-US" strike="noStrike" u="none">
                <a:solidFill>
                  <a:schemeClr val="dk1"/>
                </a:solidFill>
                <a:latin typeface="Calibri"/>
                <a:ea typeface="Calibri"/>
                <a:cs typeface="Calibri"/>
                <a:sym typeface="Calibri"/>
              </a:rPr>
              <a:t>‹#›</a:t>
            </a:fld>
            <a:endParaRPr b="0" cap="none" sz="1200" i="0" strike="noStrike" u="non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 name="Shape 84"/>
        <p:cNvGrpSpPr/>
        <p:nvPr/>
      </p:nvGrpSpPr>
      <p:grpSpPr>
        <a:xfrm>
          <a:off x="0" y="0"/>
          <a:ext cx="0" cy="0"/>
          <a:chOff x="0" y="0"/>
          <a:chExt cx="0" cy="0"/>
        </a:xfrm>
      </p:grpSpPr>
      <p:sp>
        <p:nvSpPr>
          <p:cNvPr id="1048595" name="Google Shape;85;p1:notes"/>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596" name="Google Shape;86;p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98"/>
        <p:cNvGrpSpPr/>
        <p:nvPr/>
      </p:nvGrpSpPr>
      <p:grpSpPr>
        <a:xfrm>
          <a:off x="0" y="0"/>
          <a:ext cx="0" cy="0"/>
          <a:chOff x="0" y="0"/>
          <a:chExt cx="0" cy="0"/>
        </a:xfrm>
      </p:grpSpPr>
      <p:sp>
        <p:nvSpPr>
          <p:cNvPr id="1048604" name="Google Shape;99;p2:notes"/>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05" name="Google Shape;100;p2: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 name="Shape 104"/>
        <p:cNvGrpSpPr/>
        <p:nvPr/>
      </p:nvGrpSpPr>
      <p:grpSpPr>
        <a:xfrm>
          <a:off x="0" y="0"/>
          <a:ext cx="0" cy="0"/>
          <a:chOff x="0" y="0"/>
          <a:chExt cx="0" cy="0"/>
        </a:xfrm>
      </p:grpSpPr>
      <p:sp>
        <p:nvSpPr>
          <p:cNvPr id="1048613" name="Google Shape;105;p3:notes"/>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14" name="Google Shape;106;p3: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9" name="Shape 111"/>
        <p:cNvGrpSpPr/>
        <p:nvPr/>
      </p:nvGrpSpPr>
      <p:grpSpPr>
        <a:xfrm>
          <a:off x="0" y="0"/>
          <a:ext cx="0" cy="0"/>
          <a:chOff x="0" y="0"/>
          <a:chExt cx="0" cy="0"/>
        </a:xfrm>
      </p:grpSpPr>
      <p:sp>
        <p:nvSpPr>
          <p:cNvPr id="1048618" name="Google Shape;112;p4: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19" name="Google Shape;113;p4: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20" name="Google Shape;114;p4: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119"/>
        <p:cNvGrpSpPr/>
        <p:nvPr/>
      </p:nvGrpSpPr>
      <p:grpSpPr>
        <a:xfrm>
          <a:off x="0" y="0"/>
          <a:ext cx="0" cy="0"/>
          <a:chOff x="0" y="0"/>
          <a:chExt cx="0" cy="0"/>
        </a:xfrm>
      </p:grpSpPr>
      <p:sp>
        <p:nvSpPr>
          <p:cNvPr id="1048624" name="Google Shape;120;p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25" name="Google Shape;121;p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26" name="Google Shape;122;p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 name="Shape 127"/>
        <p:cNvGrpSpPr/>
        <p:nvPr/>
      </p:nvGrpSpPr>
      <p:grpSpPr>
        <a:xfrm>
          <a:off x="0" y="0"/>
          <a:ext cx="0" cy="0"/>
          <a:chOff x="0" y="0"/>
          <a:chExt cx="0" cy="0"/>
        </a:xfrm>
      </p:grpSpPr>
      <p:sp>
        <p:nvSpPr>
          <p:cNvPr id="1048630" name="Google Shape;128;p6:notes"/>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31" name="Google Shape;129;p6: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134"/>
        <p:cNvGrpSpPr/>
        <p:nvPr/>
      </p:nvGrpSpPr>
      <p:grpSpPr>
        <a:xfrm>
          <a:off x="0" y="0"/>
          <a:ext cx="0" cy="0"/>
          <a:chOff x="0" y="0"/>
          <a:chExt cx="0" cy="0"/>
        </a:xfrm>
      </p:grpSpPr>
      <p:sp>
        <p:nvSpPr>
          <p:cNvPr id="1048635" name="Google Shape;135;p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36" name="Google Shape;136;p7:notes"/>
          <p:cNvSpPr txBox="1"/>
          <p:nvPr>
            <p:ph type="body" idx="1"/>
          </p:nvPr>
        </p:nvSpPr>
        <p:spPr>
          <a:xfrm>
            <a:off x="685800" y="4400550"/>
            <a:ext cx="5486400" cy="360045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37" name="Google Shape;137;p7:notes"/>
          <p:cNvSpPr txBox="1"/>
          <p:nvPr>
            <p:ph type="sldNum" idx="12"/>
          </p:nvPr>
        </p:nvSpPr>
        <p:spPr>
          <a:xfrm>
            <a:off x="3884613" y="8685213"/>
            <a:ext cx="2971800" cy="458787"/>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SzPts val="1400"/>
              <a:buNone/>
            </a:pPr>
            <a:fld id="{00000000-1234-1234-1234-123412341234}" type="slidenum">
              <a:rPr lang="en-US"/>
              <a:t>‹#›</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142"/>
        <p:cNvGrpSpPr/>
        <p:nvPr/>
      </p:nvGrpSpPr>
      <p:grpSpPr>
        <a:xfrm>
          <a:off x="0" y="0"/>
          <a:ext cx="0" cy="0"/>
          <a:chOff x="0" y="0"/>
          <a:chExt cx="0" cy="0"/>
        </a:xfrm>
      </p:grpSpPr>
      <p:sp>
        <p:nvSpPr>
          <p:cNvPr id="1048642" name="Google Shape;143;p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3" name="Google Shape;144;p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44" name="Google Shape;145;p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151"/>
        <p:cNvGrpSpPr/>
        <p:nvPr/>
      </p:nvGrpSpPr>
      <p:grpSpPr>
        <a:xfrm>
          <a:off x="0" y="0"/>
          <a:ext cx="0" cy="0"/>
          <a:chOff x="0" y="0"/>
          <a:chExt cx="0" cy="0"/>
        </a:xfrm>
      </p:grpSpPr>
      <p:sp>
        <p:nvSpPr>
          <p:cNvPr id="1048648" name="Google Shape;152;p9: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9" name="Google Shape;153;p9: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50" name="Google Shape;154;p9: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159"/>
        <p:cNvGrpSpPr/>
        <p:nvPr/>
      </p:nvGrpSpPr>
      <p:grpSpPr>
        <a:xfrm>
          <a:off x="0" y="0"/>
          <a:ext cx="0" cy="0"/>
          <a:chOff x="0" y="0"/>
          <a:chExt cx="0" cy="0"/>
        </a:xfrm>
      </p:grpSpPr>
      <p:sp>
        <p:nvSpPr>
          <p:cNvPr id="1048653" name="Google Shape;160;g3c6e02d04ef_0_94: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54" name="Google Shape;161;g3c6e02d04ef_0_94: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55" name="Google Shape;162;g3c6e02d04ef_0_94: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 name="Shape 167"/>
        <p:cNvGrpSpPr/>
        <p:nvPr/>
      </p:nvGrpSpPr>
      <p:grpSpPr>
        <a:xfrm>
          <a:off x="0" y="0"/>
          <a:ext cx="0" cy="0"/>
          <a:chOff x="0" y="0"/>
          <a:chExt cx="0" cy="0"/>
        </a:xfrm>
      </p:grpSpPr>
      <p:sp>
        <p:nvSpPr>
          <p:cNvPr id="1048662" name="Google Shape;168;p1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63" name="Google Shape;169;p1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Clr>
                <a:schemeClr val="dk1"/>
              </a:buClr>
              <a:buSzPts val="1200"/>
              <a:buFont typeface="Calibri"/>
              <a:buNone/>
            </a:pPr>
            <a:r>
              <a:t/>
            </a:r>
          </a:p>
        </p:txBody>
      </p:sp>
      <p:sp>
        <p:nvSpPr>
          <p:cNvPr id="1048664" name="Google Shape;170;p1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chemeClr val="dk1"/>
              </a:buClr>
              <a:buSzPts val="1200"/>
              <a:buFont typeface="Calibri"/>
              <a:buNone/>
            </a:pPr>
            <a:fld id="{00000000-1234-1234-1234-123412341234}" type="slidenum">
              <a:rPr lang="en-US"/>
              <a:t>‹#›</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75"/>
        <p:cNvGrpSpPr/>
        <p:nvPr/>
      </p:nvGrpSpPr>
      <p:grpSpPr>
        <a:xfrm>
          <a:off x="0" y="0"/>
          <a:ext cx="0" cy="0"/>
          <a:chOff x="0" y="0"/>
          <a:chExt cx="0" cy="0"/>
        </a:xfrm>
      </p:grpSpPr>
      <p:sp>
        <p:nvSpPr>
          <p:cNvPr id="1048667" name="Google Shape;176;p12: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68" name="Google Shape;177;p12: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69" name="Google Shape;178;p12: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82"/>
        <p:cNvGrpSpPr/>
        <p:nvPr/>
      </p:nvGrpSpPr>
      <p:grpSpPr>
        <a:xfrm>
          <a:off x="0" y="0"/>
          <a:ext cx="0" cy="0"/>
          <a:chOff x="0" y="0"/>
          <a:chExt cx="0" cy="0"/>
        </a:xfrm>
      </p:grpSpPr>
      <p:sp>
        <p:nvSpPr>
          <p:cNvPr id="1048674" name="Google Shape;183;p13: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75" name="Google Shape;184;p13: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76" name="Google Shape;185;p13: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91"/>
        <p:cNvGrpSpPr/>
        <p:nvPr/>
      </p:nvGrpSpPr>
      <p:grpSpPr>
        <a:xfrm>
          <a:off x="0" y="0"/>
          <a:ext cx="0" cy="0"/>
          <a:chOff x="0" y="0"/>
          <a:chExt cx="0" cy="0"/>
        </a:xfrm>
      </p:grpSpPr>
      <p:sp>
        <p:nvSpPr>
          <p:cNvPr id="1048681" name="Google Shape;192;p14: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82" name="Google Shape;193;p14: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83" name="Google Shape;194;p14: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200"/>
        <p:cNvGrpSpPr/>
        <p:nvPr/>
      </p:nvGrpSpPr>
      <p:grpSpPr>
        <a:xfrm>
          <a:off x="0" y="0"/>
          <a:ext cx="0" cy="0"/>
          <a:chOff x="0" y="0"/>
          <a:chExt cx="0" cy="0"/>
        </a:xfrm>
      </p:grpSpPr>
      <p:sp>
        <p:nvSpPr>
          <p:cNvPr id="1048685" name="Google Shape;201;g3cfc572c2db_0_0: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86" name="Google Shape;202;g3cfc572c2db_0_0: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87" name="Google Shape;203;g3cfc572c2db_0_0: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207"/>
        <p:cNvGrpSpPr/>
        <p:nvPr/>
      </p:nvGrpSpPr>
      <p:grpSpPr>
        <a:xfrm>
          <a:off x="0" y="0"/>
          <a:ext cx="0" cy="0"/>
          <a:chOff x="0" y="0"/>
          <a:chExt cx="0" cy="0"/>
        </a:xfrm>
      </p:grpSpPr>
      <p:sp>
        <p:nvSpPr>
          <p:cNvPr id="1048692" name="Google Shape;208;p1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93" name="Google Shape;209;p1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94" name="Google Shape;210;p1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9" name="Shape 216"/>
        <p:cNvGrpSpPr/>
        <p:nvPr/>
      </p:nvGrpSpPr>
      <p:grpSpPr>
        <a:xfrm>
          <a:off x="0" y="0"/>
          <a:ext cx="0" cy="0"/>
          <a:chOff x="0" y="0"/>
          <a:chExt cx="0" cy="0"/>
        </a:xfrm>
      </p:grpSpPr>
      <p:sp>
        <p:nvSpPr>
          <p:cNvPr id="1048696" name="Google Shape;217;g3cfc572c2db_0_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97" name="Google Shape;218;g3cfc572c2db_0_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698" name="Google Shape;219;g3cfc572c2db_0_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223"/>
        <p:cNvGrpSpPr/>
        <p:nvPr/>
      </p:nvGrpSpPr>
      <p:grpSpPr>
        <a:xfrm>
          <a:off x="0" y="0"/>
          <a:ext cx="0" cy="0"/>
          <a:chOff x="0" y="0"/>
          <a:chExt cx="0" cy="0"/>
        </a:xfrm>
      </p:grpSpPr>
      <p:sp>
        <p:nvSpPr>
          <p:cNvPr id="1048702" name="Google Shape;224;p19: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03" name="Google Shape;225;p19: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04" name="Google Shape;226;p19: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231"/>
        <p:cNvGrpSpPr/>
        <p:nvPr/>
      </p:nvGrpSpPr>
      <p:grpSpPr>
        <a:xfrm>
          <a:off x="0" y="0"/>
          <a:ext cx="0" cy="0"/>
          <a:chOff x="0" y="0"/>
          <a:chExt cx="0" cy="0"/>
        </a:xfrm>
      </p:grpSpPr>
      <p:sp>
        <p:nvSpPr>
          <p:cNvPr id="1048706" name="Google Shape;232;g3cfc572c2db_0_2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07" name="Google Shape;233;g3cfc572c2db_0_2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08" name="Google Shape;234;g3cfc572c2db_0_2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238"/>
        <p:cNvGrpSpPr/>
        <p:nvPr/>
      </p:nvGrpSpPr>
      <p:grpSpPr>
        <a:xfrm>
          <a:off x="0" y="0"/>
          <a:ext cx="0" cy="0"/>
          <a:chOff x="0" y="0"/>
          <a:chExt cx="0" cy="0"/>
        </a:xfrm>
      </p:grpSpPr>
      <p:sp>
        <p:nvSpPr>
          <p:cNvPr id="1048713" name="Google Shape;239;p22: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4" name="Google Shape;240;p22: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15" name="Google Shape;241;p22: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247"/>
        <p:cNvGrpSpPr/>
        <p:nvPr/>
      </p:nvGrpSpPr>
      <p:grpSpPr>
        <a:xfrm>
          <a:off x="0" y="0"/>
          <a:ext cx="0" cy="0"/>
          <a:chOff x="0" y="0"/>
          <a:chExt cx="0" cy="0"/>
        </a:xfrm>
      </p:grpSpPr>
      <p:sp>
        <p:nvSpPr>
          <p:cNvPr id="1048717" name="Google Shape;248;g3cfc572c2db_0_2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8" name="Google Shape;249;g3cfc572c2db_0_2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19" name="Google Shape;250;g3cfc572c2db_0_2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254"/>
        <p:cNvGrpSpPr/>
        <p:nvPr/>
      </p:nvGrpSpPr>
      <p:grpSpPr>
        <a:xfrm>
          <a:off x="0" y="0"/>
          <a:ext cx="0" cy="0"/>
          <a:chOff x="0" y="0"/>
          <a:chExt cx="0" cy="0"/>
        </a:xfrm>
      </p:grpSpPr>
      <p:sp>
        <p:nvSpPr>
          <p:cNvPr id="1048723" name="Google Shape;255;p2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4" name="Google Shape;256;p2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25" name="Google Shape;257;p2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262"/>
        <p:cNvGrpSpPr/>
        <p:nvPr/>
      </p:nvGrpSpPr>
      <p:grpSpPr>
        <a:xfrm>
          <a:off x="0" y="0"/>
          <a:ext cx="0" cy="0"/>
          <a:chOff x="0" y="0"/>
          <a:chExt cx="0" cy="0"/>
        </a:xfrm>
      </p:grpSpPr>
      <p:sp>
        <p:nvSpPr>
          <p:cNvPr id="1048727" name="Google Shape;263;g3cfc572c2db_0_4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8" name="Google Shape;264;g3cfc572c2db_0_4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29" name="Google Shape;265;g3cfc572c2db_0_4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269"/>
        <p:cNvGrpSpPr/>
        <p:nvPr/>
      </p:nvGrpSpPr>
      <p:grpSpPr>
        <a:xfrm>
          <a:off x="0" y="0"/>
          <a:ext cx="0" cy="0"/>
          <a:chOff x="0" y="0"/>
          <a:chExt cx="0" cy="0"/>
        </a:xfrm>
      </p:grpSpPr>
      <p:sp>
        <p:nvSpPr>
          <p:cNvPr id="1048733" name="Google Shape;270;p2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34" name="Google Shape;271;p2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35" name="Google Shape;272;p2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277"/>
        <p:cNvGrpSpPr/>
        <p:nvPr/>
      </p:nvGrpSpPr>
      <p:grpSpPr>
        <a:xfrm>
          <a:off x="0" y="0"/>
          <a:ext cx="0" cy="0"/>
          <a:chOff x="0" y="0"/>
          <a:chExt cx="0" cy="0"/>
        </a:xfrm>
      </p:grpSpPr>
      <p:sp>
        <p:nvSpPr>
          <p:cNvPr id="1048737" name="Google Shape;278;g3cfc572c2db_0_4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38" name="Google Shape;279;g3cfc572c2db_0_4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39" name="Google Shape;280;g3cfc572c2db_0_4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284"/>
        <p:cNvGrpSpPr/>
        <p:nvPr/>
      </p:nvGrpSpPr>
      <p:grpSpPr>
        <a:xfrm>
          <a:off x="0" y="0"/>
          <a:ext cx="0" cy="0"/>
          <a:chOff x="0" y="0"/>
          <a:chExt cx="0" cy="0"/>
        </a:xfrm>
      </p:grpSpPr>
      <p:sp>
        <p:nvSpPr>
          <p:cNvPr id="1048743" name="Google Shape;285;p3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44" name="Google Shape;286;p3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45" name="Google Shape;287;p3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292"/>
        <p:cNvGrpSpPr/>
        <p:nvPr/>
      </p:nvGrpSpPr>
      <p:grpSpPr>
        <a:xfrm>
          <a:off x="0" y="0"/>
          <a:ext cx="0" cy="0"/>
          <a:chOff x="0" y="0"/>
          <a:chExt cx="0" cy="0"/>
        </a:xfrm>
      </p:grpSpPr>
      <p:sp>
        <p:nvSpPr>
          <p:cNvPr id="1048747" name="Google Shape;293;g3cfc572c2db_0_6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48" name="Google Shape;294;g3cfc572c2db_0_6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49" name="Google Shape;295;g3cfc572c2db_0_6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299"/>
        <p:cNvGrpSpPr/>
        <p:nvPr/>
      </p:nvGrpSpPr>
      <p:grpSpPr>
        <a:xfrm>
          <a:off x="0" y="0"/>
          <a:ext cx="0" cy="0"/>
          <a:chOff x="0" y="0"/>
          <a:chExt cx="0" cy="0"/>
        </a:xfrm>
      </p:grpSpPr>
      <p:sp>
        <p:nvSpPr>
          <p:cNvPr id="1048754" name="Google Shape;300;p34: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55" name="Google Shape;301;p34: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56" name="Google Shape;302;p34: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308"/>
        <p:cNvGrpSpPr/>
        <p:nvPr/>
      </p:nvGrpSpPr>
      <p:grpSpPr>
        <a:xfrm>
          <a:off x="0" y="0"/>
          <a:ext cx="0" cy="0"/>
          <a:chOff x="0" y="0"/>
          <a:chExt cx="0" cy="0"/>
        </a:xfrm>
      </p:grpSpPr>
      <p:sp>
        <p:nvSpPr>
          <p:cNvPr id="1048760" name="Google Shape;309;p3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61" name="Google Shape;310;p3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62" name="Google Shape;311;p3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316"/>
        <p:cNvGrpSpPr/>
        <p:nvPr/>
      </p:nvGrpSpPr>
      <p:grpSpPr>
        <a:xfrm>
          <a:off x="0" y="0"/>
          <a:ext cx="0" cy="0"/>
          <a:chOff x="0" y="0"/>
          <a:chExt cx="0" cy="0"/>
        </a:xfrm>
      </p:grpSpPr>
      <p:sp>
        <p:nvSpPr>
          <p:cNvPr id="1048767" name="Google Shape;317;p36: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68" name="Google Shape;318;p36: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69" name="Google Shape;319;p36: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325"/>
        <p:cNvGrpSpPr/>
        <p:nvPr/>
      </p:nvGrpSpPr>
      <p:grpSpPr>
        <a:xfrm>
          <a:off x="0" y="0"/>
          <a:ext cx="0" cy="0"/>
          <a:chOff x="0" y="0"/>
          <a:chExt cx="0" cy="0"/>
        </a:xfrm>
      </p:grpSpPr>
      <p:sp>
        <p:nvSpPr>
          <p:cNvPr id="1048773" name="Google Shape;326;p3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74" name="Google Shape;327;p3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75" name="Google Shape;328;p3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333"/>
        <p:cNvGrpSpPr/>
        <p:nvPr/>
      </p:nvGrpSpPr>
      <p:grpSpPr>
        <a:xfrm>
          <a:off x="0" y="0"/>
          <a:ext cx="0" cy="0"/>
          <a:chOff x="0" y="0"/>
          <a:chExt cx="0" cy="0"/>
        </a:xfrm>
      </p:grpSpPr>
      <p:sp>
        <p:nvSpPr>
          <p:cNvPr id="1048779" name="Google Shape;334;p3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80" name="Google Shape;335;p3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81" name="Google Shape;336;p3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341"/>
        <p:cNvGrpSpPr/>
        <p:nvPr/>
      </p:nvGrpSpPr>
      <p:grpSpPr>
        <a:xfrm>
          <a:off x="0" y="0"/>
          <a:ext cx="0" cy="0"/>
          <a:chOff x="0" y="0"/>
          <a:chExt cx="0" cy="0"/>
        </a:xfrm>
      </p:grpSpPr>
      <p:sp>
        <p:nvSpPr>
          <p:cNvPr id="1048785" name="Google Shape;342;g3c6e02d04ef_0_8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86" name="Google Shape;343;g3c6e02d04ef_0_8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87" name="Google Shape;344;g3c6e02d04ef_0_8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349"/>
        <p:cNvGrpSpPr/>
        <p:nvPr/>
      </p:nvGrpSpPr>
      <p:grpSpPr>
        <a:xfrm>
          <a:off x="0" y="0"/>
          <a:ext cx="0" cy="0"/>
          <a:chOff x="0" y="0"/>
          <a:chExt cx="0" cy="0"/>
        </a:xfrm>
      </p:grpSpPr>
      <p:sp>
        <p:nvSpPr>
          <p:cNvPr id="1048791" name="Google Shape;350;g3c5cdc51c6d_0_3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92" name="Google Shape;351;g3c5cdc51c6d_0_3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93" name="Google Shape;352;g3c5cdc51c6d_0_3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357"/>
        <p:cNvGrpSpPr/>
        <p:nvPr/>
      </p:nvGrpSpPr>
      <p:grpSpPr>
        <a:xfrm>
          <a:off x="0" y="0"/>
          <a:ext cx="0" cy="0"/>
          <a:chOff x="0" y="0"/>
          <a:chExt cx="0" cy="0"/>
        </a:xfrm>
      </p:grpSpPr>
      <p:sp>
        <p:nvSpPr>
          <p:cNvPr id="1048797" name="Google Shape;358;g3cfc572c2db_0_68: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98" name="Google Shape;359;g3cfc572c2db_0_68: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799" name="Google Shape;360;g3cfc572c2db_0_68: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365"/>
        <p:cNvGrpSpPr/>
        <p:nvPr/>
      </p:nvGrpSpPr>
      <p:grpSpPr>
        <a:xfrm>
          <a:off x="0" y="0"/>
          <a:ext cx="0" cy="0"/>
          <a:chOff x="0" y="0"/>
          <a:chExt cx="0" cy="0"/>
        </a:xfrm>
      </p:grpSpPr>
      <p:sp>
        <p:nvSpPr>
          <p:cNvPr id="1048804" name="Google Shape;366;g3cfc572c2db_0_7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05" name="Google Shape;367;g3cfc572c2db_0_7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06" name="Google Shape;368;g3cfc572c2db_0_7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374"/>
        <p:cNvGrpSpPr/>
        <p:nvPr/>
      </p:nvGrpSpPr>
      <p:grpSpPr>
        <a:xfrm>
          <a:off x="0" y="0"/>
          <a:ext cx="0" cy="0"/>
          <a:chOff x="0" y="0"/>
          <a:chExt cx="0" cy="0"/>
        </a:xfrm>
      </p:grpSpPr>
      <p:sp>
        <p:nvSpPr>
          <p:cNvPr id="1048810" name="Google Shape;375;g3cfc572c2db_0_83: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11" name="Google Shape;376;g3cfc572c2db_0_83: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12" name="Google Shape;377;g3cfc572c2db_0_83: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382"/>
        <p:cNvGrpSpPr/>
        <p:nvPr/>
      </p:nvGrpSpPr>
      <p:grpSpPr>
        <a:xfrm>
          <a:off x="0" y="0"/>
          <a:ext cx="0" cy="0"/>
          <a:chOff x="0" y="0"/>
          <a:chExt cx="0" cy="0"/>
        </a:xfrm>
      </p:grpSpPr>
      <p:sp>
        <p:nvSpPr>
          <p:cNvPr id="1048816" name="Google Shape;383;g3cfc572c2db_0_89: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17" name="Google Shape;384;g3cfc572c2db_0_89: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18" name="Google Shape;385;g3cfc572c2db_0_89: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390"/>
        <p:cNvGrpSpPr/>
        <p:nvPr/>
      </p:nvGrpSpPr>
      <p:grpSpPr>
        <a:xfrm>
          <a:off x="0" y="0"/>
          <a:ext cx="0" cy="0"/>
          <a:chOff x="0" y="0"/>
          <a:chExt cx="0" cy="0"/>
        </a:xfrm>
      </p:grpSpPr>
      <p:sp>
        <p:nvSpPr>
          <p:cNvPr id="1048822" name="Google Shape;391;g3cfc572c2db_0_9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23" name="Google Shape;392;g3cfc572c2db_0_9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24" name="Google Shape;393;g3cfc572c2db_0_9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398"/>
        <p:cNvGrpSpPr/>
        <p:nvPr/>
      </p:nvGrpSpPr>
      <p:grpSpPr>
        <a:xfrm>
          <a:off x="0" y="0"/>
          <a:ext cx="0" cy="0"/>
          <a:chOff x="0" y="0"/>
          <a:chExt cx="0" cy="0"/>
        </a:xfrm>
      </p:grpSpPr>
      <p:sp>
        <p:nvSpPr>
          <p:cNvPr id="1048828" name="Google Shape;399;g3cfc572c2db_0_101: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29" name="Google Shape;400;g3cfc572c2db_0_101: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30" name="Google Shape;401;g3cfc572c2db_0_101: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406"/>
        <p:cNvGrpSpPr/>
        <p:nvPr/>
      </p:nvGrpSpPr>
      <p:grpSpPr>
        <a:xfrm>
          <a:off x="0" y="0"/>
          <a:ext cx="0" cy="0"/>
          <a:chOff x="0" y="0"/>
          <a:chExt cx="0" cy="0"/>
        </a:xfrm>
      </p:grpSpPr>
      <p:sp>
        <p:nvSpPr>
          <p:cNvPr id="1048834" name="Google Shape;407;g3cfc572c2db_0_10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35" name="Google Shape;408;g3cfc572c2db_0_10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36" name="Google Shape;409;g3cfc572c2db_0_10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414"/>
        <p:cNvGrpSpPr/>
        <p:nvPr/>
      </p:nvGrpSpPr>
      <p:grpSpPr>
        <a:xfrm>
          <a:off x="0" y="0"/>
          <a:ext cx="0" cy="0"/>
          <a:chOff x="0" y="0"/>
          <a:chExt cx="0" cy="0"/>
        </a:xfrm>
      </p:grpSpPr>
      <p:sp>
        <p:nvSpPr>
          <p:cNvPr id="1048840" name="Google Shape;415;g3d0077410f2_0_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41" name="Google Shape;416;g3d0077410f2_0_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42" name="Google Shape;417;g3d0077410f2_0_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422"/>
        <p:cNvGrpSpPr/>
        <p:nvPr/>
      </p:nvGrpSpPr>
      <p:grpSpPr>
        <a:xfrm>
          <a:off x="0" y="0"/>
          <a:ext cx="0" cy="0"/>
          <a:chOff x="0" y="0"/>
          <a:chExt cx="0" cy="0"/>
        </a:xfrm>
      </p:grpSpPr>
      <p:sp>
        <p:nvSpPr>
          <p:cNvPr id="1048845" name="Google Shape;423;g3cfc572c2db_0_116: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46" name="Google Shape;424;g3cfc572c2db_0_116: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47" name="Google Shape;425;g3cfc572c2db_0_116: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430"/>
        <p:cNvGrpSpPr/>
        <p:nvPr/>
      </p:nvGrpSpPr>
      <p:grpSpPr>
        <a:xfrm>
          <a:off x="0" y="0"/>
          <a:ext cx="0" cy="0"/>
          <a:chOff x="0" y="0"/>
          <a:chExt cx="0" cy="0"/>
        </a:xfrm>
      </p:grpSpPr>
      <p:sp>
        <p:nvSpPr>
          <p:cNvPr id="1048850" name="Google Shape;431;g3c5c4fec69c_0_0: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51" name="Google Shape;432;g3c5c4fec69c_0_0: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52" name="Google Shape;433;g3c5c4fec69c_0_0: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437"/>
        <p:cNvGrpSpPr/>
        <p:nvPr/>
      </p:nvGrpSpPr>
      <p:grpSpPr>
        <a:xfrm>
          <a:off x="0" y="0"/>
          <a:ext cx="0" cy="0"/>
          <a:chOff x="0" y="0"/>
          <a:chExt cx="0" cy="0"/>
        </a:xfrm>
      </p:grpSpPr>
      <p:sp>
        <p:nvSpPr>
          <p:cNvPr id="1048857" name="Google Shape;438;g3c5c4fec69c_0_13: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58" name="Google Shape;439;g3c5c4fec69c_0_13: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59" name="Google Shape;440;g3c5c4fec69c_0_13: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448"/>
        <p:cNvGrpSpPr/>
        <p:nvPr/>
      </p:nvGrpSpPr>
      <p:grpSpPr>
        <a:xfrm>
          <a:off x="0" y="0"/>
          <a:ext cx="0" cy="0"/>
          <a:chOff x="0" y="0"/>
          <a:chExt cx="0" cy="0"/>
        </a:xfrm>
      </p:grpSpPr>
      <p:sp>
        <p:nvSpPr>
          <p:cNvPr id="1048863" name="Google Shape;449;g3c5cdc51c6d_0_4: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64" name="Google Shape;450;g3c5cdc51c6d_0_4: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65" name="Google Shape;451;g3c5cdc51c6d_0_4: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458"/>
        <p:cNvGrpSpPr/>
        <p:nvPr/>
      </p:nvGrpSpPr>
      <p:grpSpPr>
        <a:xfrm>
          <a:off x="0" y="0"/>
          <a:ext cx="0" cy="0"/>
          <a:chOff x="0" y="0"/>
          <a:chExt cx="0" cy="0"/>
        </a:xfrm>
      </p:grpSpPr>
      <p:sp>
        <p:nvSpPr>
          <p:cNvPr id="1048868" name="Google Shape;459;g3c5cdc51c6d_0_15: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69" name="Google Shape;460;g3c5cdc51c6d_0_15: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70" name="Google Shape;461;g3c5cdc51c6d_0_15: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466"/>
        <p:cNvGrpSpPr/>
        <p:nvPr/>
      </p:nvGrpSpPr>
      <p:grpSpPr>
        <a:xfrm>
          <a:off x="0" y="0"/>
          <a:ext cx="0" cy="0"/>
          <a:chOff x="0" y="0"/>
          <a:chExt cx="0" cy="0"/>
        </a:xfrm>
      </p:grpSpPr>
      <p:sp>
        <p:nvSpPr>
          <p:cNvPr id="1048873" name="Google Shape;467;g3c5cdc51c6d_0_27: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74" name="Google Shape;468;g3c5cdc51c6d_0_27: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75" name="Google Shape;469;g3c5cdc51c6d_0_27: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473"/>
        <p:cNvGrpSpPr/>
        <p:nvPr/>
      </p:nvGrpSpPr>
      <p:grpSpPr>
        <a:xfrm>
          <a:off x="0" y="0"/>
          <a:ext cx="0" cy="0"/>
          <a:chOff x="0" y="0"/>
          <a:chExt cx="0" cy="0"/>
        </a:xfrm>
      </p:grpSpPr>
      <p:sp>
        <p:nvSpPr>
          <p:cNvPr id="1048879" name="Google Shape;474;g3cfc572c2db_0_123: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80" name="Google Shape;475;g3cfc572c2db_0_123: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81" name="Google Shape;476;g3cfc572c2db_0_123: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481"/>
        <p:cNvGrpSpPr/>
        <p:nvPr/>
      </p:nvGrpSpPr>
      <p:grpSpPr>
        <a:xfrm>
          <a:off x="0" y="0"/>
          <a:ext cx="0" cy="0"/>
          <a:chOff x="0" y="0"/>
          <a:chExt cx="0" cy="0"/>
        </a:xfrm>
      </p:grpSpPr>
      <p:sp>
        <p:nvSpPr>
          <p:cNvPr id="1048885" name="Google Shape;482;g3cfc572c2db_0_130: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86" name="Google Shape;483;g3cfc572c2db_0_130: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87" name="Google Shape;484;g3cfc572c2db_0_130:notes"/>
          <p:cNvSpPr txBox="1"/>
          <p:nvPr>
            <p:ph type="sldNum" idx="12"/>
          </p:nvPr>
        </p:nvSpPr>
        <p:spPr>
          <a:xfrm>
            <a:off x="3884613" y="8685213"/>
            <a:ext cx="2971800" cy="458700"/>
          </a:xfrm>
          <a:prstGeom prst="rect"/>
          <a:noFill/>
          <a:ln>
            <a:noFill/>
          </a:ln>
        </p:spPr>
        <p:txBody>
          <a:bodyPr anchor="b"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489"/>
        <p:cNvGrpSpPr/>
        <p:nvPr/>
      </p:nvGrpSpPr>
      <p:grpSpPr>
        <a:xfrm>
          <a:off x="0" y="0"/>
          <a:ext cx="0" cy="0"/>
          <a:chOff x="0" y="0"/>
          <a:chExt cx="0" cy="0"/>
        </a:xfrm>
      </p:grpSpPr>
      <p:sp>
        <p:nvSpPr>
          <p:cNvPr id="1048890" name="Google Shape;490;p62:notes"/>
          <p:cNvSpPr txBox="1"/>
          <p:nvPr>
            <p:ph type="body" idx="1"/>
          </p:nvPr>
        </p:nvSpPr>
        <p:spPr>
          <a:xfrm>
            <a:off x="685800" y="4400550"/>
            <a:ext cx="5486400" cy="3600600"/>
          </a:xfrm>
          <a:prstGeom prst="rect"/>
          <a:noFill/>
          <a:ln>
            <a:noFill/>
          </a:ln>
        </p:spPr>
        <p:txBody>
          <a:bodyPr anchor="t" anchorCtr="0" bIns="45700" lIns="91425" rIns="91425" spcFirstLastPara="1" tIns="45700" wrap="square">
            <a:noAutofit/>
          </a:bodyPr>
          <a:p>
            <a:pPr algn="l" indent="0" lvl="0" marL="0" rtl="0">
              <a:lnSpc>
                <a:spcPct val="100000"/>
              </a:lnSpc>
              <a:spcBef>
                <a:spcPts val="0"/>
              </a:spcBef>
              <a:spcAft>
                <a:spcPts val="0"/>
              </a:spcAft>
              <a:buSzPts val="1400"/>
              <a:buNone/>
            </a:pPr>
            <a:r>
              <a:t/>
            </a:r>
          </a:p>
        </p:txBody>
      </p:sp>
      <p:sp>
        <p:nvSpPr>
          <p:cNvPr id="1048891" name="Google Shape;491;p62:notes"/>
          <p:cNvSpPr/>
          <p:nvPr>
            <p:ph type="sldImg" idx="2"/>
          </p:nvPr>
        </p:nvSpPr>
        <p:spPr>
          <a:xfrm>
            <a:off x="685800" y="1143000"/>
            <a:ext cx="5486400" cy="30861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24" name="Shape 15"/>
        <p:cNvGrpSpPr/>
        <p:nvPr/>
      </p:nvGrpSpPr>
      <p:grpSpPr>
        <a:xfrm>
          <a:off x="0" y="0"/>
          <a:ext cx="0" cy="0"/>
          <a:chOff x="0" y="0"/>
          <a:chExt cx="0" cy="0"/>
        </a:xfrm>
      </p:grpSpPr>
      <p:sp>
        <p:nvSpPr>
          <p:cNvPr id="1048581" name="Google Shape;16;p64"/>
          <p:cNvSpPr txBox="1"/>
          <p:nvPr>
            <p:ph type="ctrTitle"/>
          </p:nvPr>
        </p:nvSpPr>
        <p:spPr>
          <a:xfrm>
            <a:off x="1524000" y="1122363"/>
            <a:ext cx="9144000" cy="2387600"/>
          </a:xfrm>
          <a:prstGeom prst="rect"/>
          <a:noFill/>
          <a:ln>
            <a:noFill/>
          </a:ln>
        </p:spPr>
        <p:txBody>
          <a:bodyPr anchor="b" anchorCtr="0" bIns="45700" lIns="91425" rIns="91425" spcFirstLastPara="1" tIns="45700" wrap="square">
            <a:normAutofit/>
          </a:bodyPr>
          <a:lstStyle>
            <a:lvl1pPr algn="ctr" lvl="0">
              <a:lnSpc>
                <a:spcPct val="90000"/>
              </a:lnSpc>
              <a:spcBef>
                <a:spcPts val="0"/>
              </a:spcBef>
              <a:spcAft>
                <a:spcPts val="0"/>
              </a:spcAft>
              <a:buClr>
                <a:schemeClr val="dk1"/>
              </a:buClr>
              <a:buSzPts val="6000"/>
              <a:buFont typeface="Calibri"/>
              <a:buNone/>
              <a:defRPr sz="60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2" name="Google Shape;17;p64"/>
          <p:cNvSpPr txBox="1"/>
          <p:nvPr>
            <p:ph type="subTitle" idx="1"/>
          </p:nvPr>
        </p:nvSpPr>
        <p:spPr>
          <a:xfrm>
            <a:off x="1524000" y="3602038"/>
            <a:ext cx="9144000" cy="1655762"/>
          </a:xfrm>
          <a:prstGeom prst="rect"/>
          <a:noFill/>
          <a:ln>
            <a:noFill/>
          </a:ln>
        </p:spPr>
        <p:txBody>
          <a:bodyPr anchor="t" anchorCtr="0" bIns="45700" lIns="91425" rIns="91425" spcFirstLastPara="1" tIns="45700" wrap="square">
            <a:normAutofit/>
          </a:bodyPr>
          <a:lstStyle>
            <a:lvl1pPr algn="ctr" lvl="0">
              <a:lnSpc>
                <a:spcPct val="90000"/>
              </a:lnSpc>
              <a:spcBef>
                <a:spcPts val="1000"/>
              </a:spcBef>
              <a:spcAft>
                <a:spcPts val="0"/>
              </a:spcAft>
              <a:buClr>
                <a:schemeClr val="dk1"/>
              </a:buClr>
              <a:buSzPts val="2400"/>
              <a:buNone/>
              <a:defRPr sz="2400"/>
            </a:lvl1pPr>
            <a:lvl2pPr algn="ctr" lvl="1">
              <a:lnSpc>
                <a:spcPct val="90000"/>
              </a:lnSpc>
              <a:spcBef>
                <a:spcPts val="500"/>
              </a:spcBef>
              <a:spcAft>
                <a:spcPts val="0"/>
              </a:spcAft>
              <a:buClr>
                <a:schemeClr val="dk1"/>
              </a:buClr>
              <a:buSzPts val="2000"/>
              <a:buNone/>
              <a:defRPr sz="2000"/>
            </a:lvl2pPr>
            <a:lvl3pPr algn="ctr" lvl="2">
              <a:lnSpc>
                <a:spcPct val="90000"/>
              </a:lnSpc>
              <a:spcBef>
                <a:spcPts val="500"/>
              </a:spcBef>
              <a:spcAft>
                <a:spcPts val="0"/>
              </a:spcAft>
              <a:buClr>
                <a:schemeClr val="dk1"/>
              </a:buClr>
              <a:buSzPts val="1800"/>
              <a:buNone/>
              <a:defRPr sz="1800"/>
            </a:lvl3pPr>
            <a:lvl4pPr algn="ctr" lvl="3">
              <a:lnSpc>
                <a:spcPct val="90000"/>
              </a:lnSpc>
              <a:spcBef>
                <a:spcPts val="500"/>
              </a:spcBef>
              <a:spcAft>
                <a:spcPts val="0"/>
              </a:spcAft>
              <a:buClr>
                <a:schemeClr val="dk1"/>
              </a:buClr>
              <a:buSzPts val="1600"/>
              <a:buNone/>
              <a:defRPr sz="1600"/>
            </a:lvl4pPr>
            <a:lvl5pPr algn="ctr" lvl="4">
              <a:lnSpc>
                <a:spcPct val="90000"/>
              </a:lnSpc>
              <a:spcBef>
                <a:spcPts val="500"/>
              </a:spcBef>
              <a:spcAft>
                <a:spcPts val="0"/>
              </a:spcAft>
              <a:buClr>
                <a:schemeClr val="dk1"/>
              </a:buClr>
              <a:buSzPts val="1600"/>
              <a:buNone/>
              <a:defRPr sz="1600"/>
            </a:lvl5pPr>
            <a:lvl6pPr algn="ctr" lvl="5">
              <a:lnSpc>
                <a:spcPct val="90000"/>
              </a:lnSpc>
              <a:spcBef>
                <a:spcPts val="500"/>
              </a:spcBef>
              <a:spcAft>
                <a:spcPts val="0"/>
              </a:spcAft>
              <a:buClr>
                <a:schemeClr val="dk1"/>
              </a:buClr>
              <a:buSzPts val="1600"/>
              <a:buNone/>
              <a:defRPr sz="1600"/>
            </a:lvl6pPr>
            <a:lvl7pPr algn="ctr" lvl="6">
              <a:lnSpc>
                <a:spcPct val="90000"/>
              </a:lnSpc>
              <a:spcBef>
                <a:spcPts val="500"/>
              </a:spcBef>
              <a:spcAft>
                <a:spcPts val="0"/>
              </a:spcAft>
              <a:buClr>
                <a:schemeClr val="dk1"/>
              </a:buClr>
              <a:buSzPts val="1600"/>
              <a:buNone/>
              <a:defRPr sz="1600"/>
            </a:lvl7pPr>
            <a:lvl8pPr algn="ctr" lvl="7">
              <a:lnSpc>
                <a:spcPct val="90000"/>
              </a:lnSpc>
              <a:spcBef>
                <a:spcPts val="500"/>
              </a:spcBef>
              <a:spcAft>
                <a:spcPts val="0"/>
              </a:spcAft>
              <a:buClr>
                <a:schemeClr val="dk1"/>
              </a:buClr>
              <a:buSzPts val="1600"/>
              <a:buNone/>
              <a:defRPr sz="1600"/>
            </a:lvl8pPr>
            <a:lvl9pPr algn="ctr" lvl="8">
              <a:lnSpc>
                <a:spcPct val="90000"/>
              </a:lnSpc>
              <a:spcBef>
                <a:spcPts val="500"/>
              </a:spcBef>
              <a:spcAft>
                <a:spcPts val="0"/>
              </a:spcAft>
              <a:buClr>
                <a:schemeClr val="dk1"/>
              </a:buClr>
              <a:buSzPts val="1600"/>
              <a:buNone/>
              <a:defRPr sz="1600"/>
            </a:lvl9pPr>
          </a:lstStyle>
          <a:p/>
        </p:txBody>
      </p:sp>
      <p:sp>
        <p:nvSpPr>
          <p:cNvPr id="1048583" name="Google Shape;18;p64"/>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4" name="Google Shape;19;p64"/>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5" name="Google Shape;20;p6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69" name="Shape 21"/>
        <p:cNvGrpSpPr/>
        <p:nvPr/>
      </p:nvGrpSpPr>
      <p:grpSpPr>
        <a:xfrm>
          <a:off x="0" y="0"/>
          <a:ext cx="0" cy="0"/>
          <a:chOff x="0" y="0"/>
          <a:chExt cx="0" cy="0"/>
        </a:xfrm>
      </p:grpSpPr>
      <p:sp>
        <p:nvSpPr>
          <p:cNvPr id="1048597" name="Google Shape;22;p65"/>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98" name="Google Shape;23;p65"/>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599" name="Google Shape;24;p65"/>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0" name="Google Shape;25;p65"/>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1" name="Google Shape;26;p65"/>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73" name="Shape 27"/>
        <p:cNvGrpSpPr/>
        <p:nvPr/>
      </p:nvGrpSpPr>
      <p:grpSpPr>
        <a:xfrm>
          <a:off x="0" y="0"/>
          <a:ext cx="0" cy="0"/>
          <a:chOff x="0" y="0"/>
          <a:chExt cx="0" cy="0"/>
        </a:xfrm>
      </p:grpSpPr>
      <p:sp>
        <p:nvSpPr>
          <p:cNvPr id="1048606" name="Google Shape;28;p66"/>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7" name="Google Shape;29;p66"/>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8" name="Google Shape;30;p66"/>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09" name="Google Shape;31;p66"/>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98" name="Shape 32"/>
        <p:cNvGrpSpPr/>
        <p:nvPr/>
      </p:nvGrpSpPr>
      <p:grpSpPr>
        <a:xfrm>
          <a:off x="0" y="0"/>
          <a:ext cx="0" cy="0"/>
          <a:chOff x="0" y="0"/>
          <a:chExt cx="0" cy="0"/>
        </a:xfrm>
      </p:grpSpPr>
      <p:sp>
        <p:nvSpPr>
          <p:cNvPr id="1048656" name="Google Shape;33;p67"/>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57" name="Google Shape;34;p67"/>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658" name="Google Shape;35;p67"/>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226" name="Shape 36"/>
        <p:cNvGrpSpPr/>
        <p:nvPr/>
      </p:nvGrpSpPr>
      <p:grpSpPr>
        <a:xfrm>
          <a:off x="0" y="0"/>
          <a:ext cx="0" cy="0"/>
          <a:chOff x="0" y="0"/>
          <a:chExt cx="0" cy="0"/>
        </a:xfrm>
      </p:grpSpPr>
      <p:sp>
        <p:nvSpPr>
          <p:cNvPr id="1048914" name="Google Shape;37;p68"/>
          <p:cNvSpPr txBox="1"/>
          <p:nvPr>
            <p:ph type="title"/>
          </p:nvPr>
        </p:nvSpPr>
        <p:spPr>
          <a:xfrm>
            <a:off x="831850" y="1709738"/>
            <a:ext cx="10515600" cy="2852737"/>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6000"/>
              <a:buFont typeface="Calibri"/>
              <a:buNone/>
              <a:defRPr sz="60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5" name="Google Shape;38;p68"/>
          <p:cNvSpPr txBox="1"/>
          <p:nvPr>
            <p:ph type="body" idx="1"/>
          </p:nvPr>
        </p:nvSpPr>
        <p:spPr>
          <a:xfrm>
            <a:off x="831850" y="4589463"/>
            <a:ext cx="10515600" cy="1500187"/>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rgbClr val="888888"/>
              </a:buClr>
              <a:buSzPts val="2400"/>
              <a:buNone/>
              <a:defRPr sz="2400">
                <a:solidFill>
                  <a:srgbClr val="888888"/>
                </a:solidFill>
              </a:defRPr>
            </a:lvl1pPr>
            <a:lvl2pPr algn="l" indent="-228600" lvl="1" marL="914400">
              <a:lnSpc>
                <a:spcPct val="90000"/>
              </a:lnSpc>
              <a:spcBef>
                <a:spcPts val="500"/>
              </a:spcBef>
              <a:spcAft>
                <a:spcPts val="0"/>
              </a:spcAft>
              <a:buClr>
                <a:srgbClr val="888888"/>
              </a:buClr>
              <a:buSzPts val="2000"/>
              <a:buNone/>
              <a:defRPr sz="2000">
                <a:solidFill>
                  <a:srgbClr val="888888"/>
                </a:solidFill>
              </a:defRPr>
            </a:lvl2pPr>
            <a:lvl3pPr algn="l" indent="-228600" lvl="2" marL="1371600">
              <a:lnSpc>
                <a:spcPct val="90000"/>
              </a:lnSpc>
              <a:spcBef>
                <a:spcPts val="500"/>
              </a:spcBef>
              <a:spcAft>
                <a:spcPts val="0"/>
              </a:spcAft>
              <a:buClr>
                <a:srgbClr val="888888"/>
              </a:buClr>
              <a:buSzPts val="1800"/>
              <a:buNone/>
              <a:defRPr sz="1800">
                <a:solidFill>
                  <a:srgbClr val="888888"/>
                </a:solidFill>
              </a:defRPr>
            </a:lvl3pPr>
            <a:lvl4pPr algn="l" indent="-228600" lvl="3" marL="1828800">
              <a:lnSpc>
                <a:spcPct val="90000"/>
              </a:lnSpc>
              <a:spcBef>
                <a:spcPts val="500"/>
              </a:spcBef>
              <a:spcAft>
                <a:spcPts val="0"/>
              </a:spcAft>
              <a:buClr>
                <a:srgbClr val="888888"/>
              </a:buClr>
              <a:buSzPts val="1600"/>
              <a:buNone/>
              <a:defRPr sz="1600">
                <a:solidFill>
                  <a:srgbClr val="888888"/>
                </a:solidFill>
              </a:defRPr>
            </a:lvl4pPr>
            <a:lvl5pPr algn="l" indent="-228600" lvl="4" marL="2286000">
              <a:lnSpc>
                <a:spcPct val="90000"/>
              </a:lnSpc>
              <a:spcBef>
                <a:spcPts val="500"/>
              </a:spcBef>
              <a:spcAft>
                <a:spcPts val="0"/>
              </a:spcAft>
              <a:buClr>
                <a:srgbClr val="888888"/>
              </a:buClr>
              <a:buSzPts val="1600"/>
              <a:buNone/>
              <a:defRPr sz="1600">
                <a:solidFill>
                  <a:srgbClr val="888888"/>
                </a:solidFill>
              </a:defRPr>
            </a:lvl5pPr>
            <a:lvl6pPr algn="l" indent="-228600" lvl="5" marL="2743200">
              <a:lnSpc>
                <a:spcPct val="90000"/>
              </a:lnSpc>
              <a:spcBef>
                <a:spcPts val="500"/>
              </a:spcBef>
              <a:spcAft>
                <a:spcPts val="0"/>
              </a:spcAft>
              <a:buClr>
                <a:srgbClr val="888888"/>
              </a:buClr>
              <a:buSzPts val="1600"/>
              <a:buNone/>
              <a:defRPr sz="1600">
                <a:solidFill>
                  <a:srgbClr val="888888"/>
                </a:solidFill>
              </a:defRPr>
            </a:lvl6pPr>
            <a:lvl7pPr algn="l" indent="-228600" lvl="6" marL="3200400">
              <a:lnSpc>
                <a:spcPct val="90000"/>
              </a:lnSpc>
              <a:spcBef>
                <a:spcPts val="500"/>
              </a:spcBef>
              <a:spcAft>
                <a:spcPts val="0"/>
              </a:spcAft>
              <a:buClr>
                <a:srgbClr val="888888"/>
              </a:buClr>
              <a:buSzPts val="1600"/>
              <a:buNone/>
              <a:defRPr sz="1600">
                <a:solidFill>
                  <a:srgbClr val="888888"/>
                </a:solidFill>
              </a:defRPr>
            </a:lvl7pPr>
            <a:lvl8pPr algn="l" indent="-228600" lvl="7" marL="3657600">
              <a:lnSpc>
                <a:spcPct val="90000"/>
              </a:lnSpc>
              <a:spcBef>
                <a:spcPts val="500"/>
              </a:spcBef>
              <a:spcAft>
                <a:spcPts val="0"/>
              </a:spcAft>
              <a:buClr>
                <a:srgbClr val="888888"/>
              </a:buClr>
              <a:buSzPts val="1600"/>
              <a:buNone/>
              <a:defRPr sz="1600">
                <a:solidFill>
                  <a:srgbClr val="888888"/>
                </a:solidFill>
              </a:defRPr>
            </a:lvl8pPr>
            <a:lvl9pPr algn="l" indent="-228600" lvl="8" marL="4114800">
              <a:lnSpc>
                <a:spcPct val="90000"/>
              </a:lnSpc>
              <a:spcBef>
                <a:spcPts val="500"/>
              </a:spcBef>
              <a:spcAft>
                <a:spcPts val="0"/>
              </a:spcAft>
              <a:buClr>
                <a:srgbClr val="888888"/>
              </a:buClr>
              <a:buSzPts val="1600"/>
              <a:buNone/>
              <a:defRPr sz="1600">
                <a:solidFill>
                  <a:srgbClr val="888888"/>
                </a:solidFill>
              </a:defRPr>
            </a:lvl9pPr>
          </a:lstStyle>
          <a:p/>
        </p:txBody>
      </p:sp>
      <p:sp>
        <p:nvSpPr>
          <p:cNvPr id="1048916" name="Google Shape;39;p68"/>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7" name="Google Shape;40;p68"/>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8" name="Google Shape;41;p68"/>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222" name="Shape 42"/>
        <p:cNvGrpSpPr/>
        <p:nvPr/>
      </p:nvGrpSpPr>
      <p:grpSpPr>
        <a:xfrm>
          <a:off x="0" y="0"/>
          <a:ext cx="0" cy="0"/>
          <a:chOff x="0" y="0"/>
          <a:chExt cx="0" cy="0"/>
        </a:xfrm>
      </p:grpSpPr>
      <p:sp>
        <p:nvSpPr>
          <p:cNvPr id="1048892" name="Google Shape;43;p69"/>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893" name="Google Shape;44;p69"/>
          <p:cNvSpPr txBox="1"/>
          <p:nvPr>
            <p:ph type="body" idx="1"/>
          </p:nvPr>
        </p:nvSpPr>
        <p:spPr>
          <a:xfrm>
            <a:off x="838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894" name="Google Shape;45;p69"/>
          <p:cNvSpPr txBox="1"/>
          <p:nvPr>
            <p:ph type="body" idx="2"/>
          </p:nvPr>
        </p:nvSpPr>
        <p:spPr>
          <a:xfrm>
            <a:off x="6172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895" name="Google Shape;46;p69"/>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896" name="Google Shape;47;p69"/>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897" name="Google Shape;48;p69"/>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227" name="Shape 49"/>
        <p:cNvGrpSpPr/>
        <p:nvPr/>
      </p:nvGrpSpPr>
      <p:grpSpPr>
        <a:xfrm>
          <a:off x="0" y="0"/>
          <a:ext cx="0" cy="0"/>
          <a:chOff x="0" y="0"/>
          <a:chExt cx="0" cy="0"/>
        </a:xfrm>
      </p:grpSpPr>
      <p:sp>
        <p:nvSpPr>
          <p:cNvPr id="1048919" name="Google Shape;50;p70"/>
          <p:cNvSpPr txBox="1"/>
          <p:nvPr>
            <p:ph type="title"/>
          </p:nvPr>
        </p:nvSpPr>
        <p:spPr>
          <a:xfrm>
            <a:off x="839788"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20" name="Google Shape;51;p70"/>
          <p:cNvSpPr txBox="1"/>
          <p:nvPr>
            <p:ph type="body" idx="1"/>
          </p:nvPr>
        </p:nvSpPr>
        <p:spPr>
          <a:xfrm>
            <a:off x="839788" y="1681163"/>
            <a:ext cx="5157787"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921" name="Google Shape;52;p70"/>
          <p:cNvSpPr txBox="1"/>
          <p:nvPr>
            <p:ph type="body" idx="2"/>
          </p:nvPr>
        </p:nvSpPr>
        <p:spPr>
          <a:xfrm>
            <a:off x="839788" y="2505075"/>
            <a:ext cx="5157787"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922" name="Google Shape;53;p70"/>
          <p:cNvSpPr txBox="1"/>
          <p:nvPr>
            <p:ph type="body" idx="3"/>
          </p:nvPr>
        </p:nvSpPr>
        <p:spPr>
          <a:xfrm>
            <a:off x="6172200" y="1681163"/>
            <a:ext cx="5183188"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923" name="Google Shape;54;p70"/>
          <p:cNvSpPr txBox="1"/>
          <p:nvPr>
            <p:ph type="body" idx="4"/>
          </p:nvPr>
        </p:nvSpPr>
        <p:spPr>
          <a:xfrm>
            <a:off x="6172200" y="2505075"/>
            <a:ext cx="5183188"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924" name="Google Shape;55;p70"/>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25" name="Google Shape;56;p70"/>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26" name="Google Shape;57;p70"/>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228" name="Shape 58"/>
        <p:cNvGrpSpPr/>
        <p:nvPr/>
      </p:nvGrpSpPr>
      <p:grpSpPr>
        <a:xfrm>
          <a:off x="0" y="0"/>
          <a:ext cx="0" cy="0"/>
          <a:chOff x="0" y="0"/>
          <a:chExt cx="0" cy="0"/>
        </a:xfrm>
      </p:grpSpPr>
      <p:sp>
        <p:nvSpPr>
          <p:cNvPr id="1048927" name="Google Shape;59;p71"/>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a:buNone/>
              <a:defRPr sz="32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28" name="Google Shape;60;p71"/>
          <p:cNvSpPr txBox="1"/>
          <p:nvPr>
            <p:ph type="body" idx="1"/>
          </p:nvPr>
        </p:nvSpPr>
        <p:spPr>
          <a:xfrm>
            <a:off x="5183188" y="987425"/>
            <a:ext cx="6172200" cy="4873625"/>
          </a:xfrm>
          <a:prstGeom prst="rect"/>
          <a:noFill/>
          <a:ln>
            <a:noFill/>
          </a:ln>
        </p:spPr>
        <p:txBody>
          <a:bodyPr anchor="t" anchorCtr="0" bIns="45700" lIns="91425" rIns="91425" spcFirstLastPara="1" tIns="45700" wrap="square">
            <a:normAutofit/>
          </a:bodyPr>
          <a:lstStyle>
            <a:lvl1pPr algn="l" indent="-431800" lvl="0" marL="457200">
              <a:lnSpc>
                <a:spcPct val="90000"/>
              </a:lnSpc>
              <a:spcBef>
                <a:spcPts val="1000"/>
              </a:spcBef>
              <a:spcAft>
                <a:spcPts val="0"/>
              </a:spcAft>
              <a:buClr>
                <a:schemeClr val="dk1"/>
              </a:buClr>
              <a:buSzPts val="3200"/>
              <a:buChar char="•"/>
              <a:defRPr sz="3200"/>
            </a:lvl1pPr>
            <a:lvl2pPr algn="l" indent="-406400" lvl="1" marL="914400">
              <a:lnSpc>
                <a:spcPct val="90000"/>
              </a:lnSpc>
              <a:spcBef>
                <a:spcPts val="500"/>
              </a:spcBef>
              <a:spcAft>
                <a:spcPts val="0"/>
              </a:spcAft>
              <a:buClr>
                <a:schemeClr val="dk1"/>
              </a:buClr>
              <a:buSzPts val="2800"/>
              <a:buChar char="•"/>
              <a:defRPr sz="2800"/>
            </a:lvl2pPr>
            <a:lvl3pPr algn="l" indent="-381000" lvl="2" marL="1371600">
              <a:lnSpc>
                <a:spcPct val="90000"/>
              </a:lnSpc>
              <a:spcBef>
                <a:spcPts val="500"/>
              </a:spcBef>
              <a:spcAft>
                <a:spcPts val="0"/>
              </a:spcAft>
              <a:buClr>
                <a:schemeClr val="dk1"/>
              </a:buClr>
              <a:buSzPts val="2400"/>
              <a:buChar char="•"/>
              <a:defRPr sz="2400"/>
            </a:lvl3pPr>
            <a:lvl4pPr algn="l" indent="-355600" lvl="3" marL="1828800">
              <a:lnSpc>
                <a:spcPct val="90000"/>
              </a:lnSpc>
              <a:spcBef>
                <a:spcPts val="500"/>
              </a:spcBef>
              <a:spcAft>
                <a:spcPts val="0"/>
              </a:spcAft>
              <a:buClr>
                <a:schemeClr val="dk1"/>
              </a:buClr>
              <a:buSzPts val="2000"/>
              <a:buChar char="•"/>
              <a:defRPr sz="2000"/>
            </a:lvl4pPr>
            <a:lvl5pPr algn="l" indent="-355600" lvl="4" marL="2286000">
              <a:lnSpc>
                <a:spcPct val="90000"/>
              </a:lnSpc>
              <a:spcBef>
                <a:spcPts val="500"/>
              </a:spcBef>
              <a:spcAft>
                <a:spcPts val="0"/>
              </a:spcAft>
              <a:buClr>
                <a:schemeClr val="dk1"/>
              </a:buClr>
              <a:buSzPts val="2000"/>
              <a:buChar char="•"/>
              <a:defRPr sz="2000"/>
            </a:lvl5pPr>
            <a:lvl6pPr algn="l" indent="-355600" lvl="5" marL="2743200">
              <a:lnSpc>
                <a:spcPct val="90000"/>
              </a:lnSpc>
              <a:spcBef>
                <a:spcPts val="500"/>
              </a:spcBef>
              <a:spcAft>
                <a:spcPts val="0"/>
              </a:spcAft>
              <a:buClr>
                <a:schemeClr val="dk1"/>
              </a:buClr>
              <a:buSzPts val="2000"/>
              <a:buChar char="•"/>
              <a:defRPr sz="2000"/>
            </a:lvl6pPr>
            <a:lvl7pPr algn="l" indent="-355600" lvl="6" marL="3200400">
              <a:lnSpc>
                <a:spcPct val="90000"/>
              </a:lnSpc>
              <a:spcBef>
                <a:spcPts val="500"/>
              </a:spcBef>
              <a:spcAft>
                <a:spcPts val="0"/>
              </a:spcAft>
              <a:buClr>
                <a:schemeClr val="dk1"/>
              </a:buClr>
              <a:buSzPts val="2000"/>
              <a:buChar char="•"/>
              <a:defRPr sz="2000"/>
            </a:lvl7pPr>
            <a:lvl8pPr algn="l" indent="-355600" lvl="7" marL="3657600">
              <a:lnSpc>
                <a:spcPct val="90000"/>
              </a:lnSpc>
              <a:spcBef>
                <a:spcPts val="500"/>
              </a:spcBef>
              <a:spcAft>
                <a:spcPts val="0"/>
              </a:spcAft>
              <a:buClr>
                <a:schemeClr val="dk1"/>
              </a:buClr>
              <a:buSzPts val="2000"/>
              <a:buChar char="•"/>
              <a:defRPr sz="2000"/>
            </a:lvl8pPr>
            <a:lvl9pPr algn="l" indent="-355600" lvl="8" marL="4114800">
              <a:lnSpc>
                <a:spcPct val="90000"/>
              </a:lnSpc>
              <a:spcBef>
                <a:spcPts val="500"/>
              </a:spcBef>
              <a:spcAft>
                <a:spcPts val="0"/>
              </a:spcAft>
              <a:buClr>
                <a:schemeClr val="dk1"/>
              </a:buClr>
              <a:buSzPts val="2000"/>
              <a:buChar char="•"/>
              <a:defRPr sz="2000"/>
            </a:lvl9pPr>
          </a:lstStyle>
          <a:p/>
        </p:txBody>
      </p:sp>
      <p:sp>
        <p:nvSpPr>
          <p:cNvPr id="1048929" name="Google Shape;61;p71"/>
          <p:cNvSpPr txBox="1"/>
          <p:nvPr>
            <p:ph type="body" idx="2"/>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930" name="Google Shape;62;p71"/>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31" name="Google Shape;63;p71"/>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32" name="Google Shape;64;p71"/>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224" name="Shape 65"/>
        <p:cNvGrpSpPr/>
        <p:nvPr/>
      </p:nvGrpSpPr>
      <p:grpSpPr>
        <a:xfrm>
          <a:off x="0" y="0"/>
          <a:ext cx="0" cy="0"/>
          <a:chOff x="0" y="0"/>
          <a:chExt cx="0" cy="0"/>
        </a:xfrm>
      </p:grpSpPr>
      <p:sp>
        <p:nvSpPr>
          <p:cNvPr id="1048903" name="Google Shape;66;p72"/>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a:buNone/>
              <a:defRPr sz="32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04" name="Google Shape;67;p72"/>
          <p:cNvSpPr/>
          <p:nvPr>
            <p:ph type="pic" idx="2"/>
          </p:nvPr>
        </p:nvSpPr>
        <p:spPr>
          <a:xfrm>
            <a:off x="5183188" y="987425"/>
            <a:ext cx="6172200" cy="4873625"/>
          </a:xfrm>
          <a:prstGeom prst="rect"/>
          <a:noFill/>
          <a:ln>
            <a:noFill/>
          </a:ln>
        </p:spPr>
      </p:sp>
      <p:sp>
        <p:nvSpPr>
          <p:cNvPr id="1048905" name="Google Shape;68;p72"/>
          <p:cNvSpPr txBox="1"/>
          <p:nvPr>
            <p:ph type="body" idx="1"/>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906" name="Google Shape;69;p72"/>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07" name="Google Shape;70;p72"/>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08" name="Google Shape;71;p72"/>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225" name="Shape 72"/>
        <p:cNvGrpSpPr/>
        <p:nvPr/>
      </p:nvGrpSpPr>
      <p:grpSpPr>
        <a:xfrm>
          <a:off x="0" y="0"/>
          <a:ext cx="0" cy="0"/>
          <a:chOff x="0" y="0"/>
          <a:chExt cx="0" cy="0"/>
        </a:xfrm>
      </p:grpSpPr>
      <p:sp>
        <p:nvSpPr>
          <p:cNvPr id="1048909" name="Google Shape;73;p7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0" name="Google Shape;74;p73"/>
          <p:cNvSpPr txBox="1"/>
          <p:nvPr>
            <p:ph type="body" idx="1"/>
          </p:nvPr>
        </p:nvSpPr>
        <p:spPr>
          <a:xfrm rot="5400000">
            <a:off x="3920331" y="-1256506"/>
            <a:ext cx="4351338" cy="105156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911" name="Google Shape;75;p73"/>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2" name="Google Shape;76;p73"/>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13" name="Google Shape;77;p73"/>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223" name="Shape 78"/>
        <p:cNvGrpSpPr/>
        <p:nvPr/>
      </p:nvGrpSpPr>
      <p:grpSpPr>
        <a:xfrm>
          <a:off x="0" y="0"/>
          <a:ext cx="0" cy="0"/>
          <a:chOff x="0" y="0"/>
          <a:chExt cx="0" cy="0"/>
        </a:xfrm>
      </p:grpSpPr>
      <p:sp>
        <p:nvSpPr>
          <p:cNvPr id="1048898" name="Google Shape;79;p74"/>
          <p:cNvSpPr txBox="1"/>
          <p:nvPr>
            <p:ph type="title"/>
          </p:nvPr>
        </p:nvSpPr>
        <p:spPr>
          <a:xfrm rot="5400000">
            <a:off x="7133431" y="1956594"/>
            <a:ext cx="5811838" cy="2628900"/>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899" name="Google Shape;80;p74"/>
          <p:cNvSpPr txBox="1"/>
          <p:nvPr>
            <p:ph type="body" idx="1"/>
          </p:nvPr>
        </p:nvSpPr>
        <p:spPr>
          <a:xfrm rot="5400000">
            <a:off x="1799431" y="-596106"/>
            <a:ext cx="5811838" cy="77343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900" name="Google Shape;81;p74"/>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01" name="Google Shape;82;p74"/>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lnSpc>
                <a:spcPct val="100000"/>
              </a:lnSpc>
              <a:spcBef>
                <a:spcPts val="0"/>
              </a:spcBef>
              <a:spcAft>
                <a:spcPts val="0"/>
              </a:spcAft>
              <a:buSzPts val="14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902" name="Google Shape;83;p7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p:bgPr>
    </p:bg>
    <p:spTree>
      <p:nvGrpSpPr>
        <p:cNvPr id="12" name="Shape 9"/>
        <p:cNvGrpSpPr/>
        <p:nvPr/>
      </p:nvGrpSpPr>
      <p:grpSpPr>
        <a:xfrm>
          <a:off x="0" y="0"/>
          <a:ext cx="0" cy="0"/>
          <a:chOff x="0" y="0"/>
          <a:chExt cx="0" cy="0"/>
        </a:xfrm>
      </p:grpSpPr>
      <p:sp>
        <p:nvSpPr>
          <p:cNvPr id="1048576" name="Google Shape;10;p6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marR="0" rtl="0">
              <a:lnSpc>
                <a:spcPct val="90000"/>
              </a:lnSpc>
              <a:spcBef>
                <a:spcPts val="0"/>
              </a:spcBef>
              <a:spcAft>
                <a:spcPts val="0"/>
              </a:spcAft>
              <a:buClr>
                <a:schemeClr val="dk1"/>
              </a:buClr>
              <a:buSzPts val="4400"/>
              <a:buFont typeface="Calibri"/>
              <a:buNone/>
              <a:defRPr b="0" cap="none" sz="44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9pPr>
          </a:lstStyle>
          <a:p/>
        </p:txBody>
      </p:sp>
      <p:sp>
        <p:nvSpPr>
          <p:cNvPr id="1048577" name="Google Shape;11;p63"/>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a:buChar char="•"/>
              <a:defRPr b="0" cap="none" sz="2800" i="0" strike="noStrike" u="none">
                <a:solidFill>
                  <a:schemeClr val="dk1"/>
                </a:solidFill>
                <a:latin typeface="Calibri"/>
                <a:ea typeface="Calibri"/>
                <a:cs typeface="Calibri"/>
                <a:sym typeface="Calibri"/>
              </a:defRPr>
            </a:lvl1pPr>
            <a:lvl2pPr algn="l" indent="-381000" lvl="1" marL="914400" marR="0" rtl="0">
              <a:lnSpc>
                <a:spcPct val="90000"/>
              </a:lnSpc>
              <a:spcBef>
                <a:spcPts val="500"/>
              </a:spcBef>
              <a:spcAft>
                <a:spcPts val="0"/>
              </a:spcAft>
              <a:buClr>
                <a:schemeClr val="dk1"/>
              </a:buClr>
              <a:buSzPts val="2400"/>
              <a:buFont typeface="Arial"/>
              <a:buChar char="•"/>
              <a:defRPr b="0" cap="none" sz="2400" i="0" strike="noStrike" u="none">
                <a:solidFill>
                  <a:schemeClr val="dk1"/>
                </a:solidFill>
                <a:latin typeface="Calibri"/>
                <a:ea typeface="Calibri"/>
                <a:cs typeface="Calibri"/>
                <a:sym typeface="Calibri"/>
              </a:defRPr>
            </a:lvl2pPr>
            <a:lvl3pPr algn="l" indent="-355600" lvl="2" marL="1371600" marR="0" rtl="0">
              <a:lnSpc>
                <a:spcPct val="90000"/>
              </a:lnSpc>
              <a:spcBef>
                <a:spcPts val="500"/>
              </a:spcBef>
              <a:spcAft>
                <a:spcPts val="0"/>
              </a:spcAft>
              <a:buClr>
                <a:schemeClr val="dk1"/>
              </a:buClr>
              <a:buSzPts val="2000"/>
              <a:buFont typeface="Arial"/>
              <a:buChar char="•"/>
              <a:defRPr b="0" cap="none" sz="2000" i="0" strike="noStrike" u="none">
                <a:solidFill>
                  <a:schemeClr val="dk1"/>
                </a:solidFill>
                <a:latin typeface="Calibri"/>
                <a:ea typeface="Calibri"/>
                <a:cs typeface="Calibri"/>
                <a:sym typeface="Calibri"/>
              </a:defRPr>
            </a:lvl3pPr>
            <a:lvl4pPr algn="l" indent="-342900" lvl="3" marL="1828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4pPr>
            <a:lvl5pPr algn="l" indent="-342900" lvl="4" marL="22860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5pPr>
            <a:lvl6pPr algn="l" indent="-342900" lvl="5" marL="27432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6pPr>
            <a:lvl7pPr algn="l" indent="-342900" lvl="6" marL="32004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7pPr>
            <a:lvl8pPr algn="l" indent="-342900" lvl="7" marL="36576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8pPr>
            <a:lvl9pPr algn="l" indent="-342900" lvl="8" marL="4114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9pPr>
          </a:lstStyle>
          <a:p/>
        </p:txBody>
      </p:sp>
      <p:sp>
        <p:nvSpPr>
          <p:cNvPr id="1048578" name="Google Shape;12;p63"/>
          <p:cNvSpPr txBox="1"/>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200" i="0" strike="noStrike" u="none">
                <a:solidFill>
                  <a:srgbClr val="888888"/>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579" name="Google Shape;13;p63"/>
          <p:cNvSpPr txBox="1"/>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marR="0" rtl="0">
              <a:lnSpc>
                <a:spcPct val="100000"/>
              </a:lnSpc>
              <a:spcBef>
                <a:spcPts val="0"/>
              </a:spcBef>
              <a:spcAft>
                <a:spcPts val="0"/>
              </a:spcAft>
              <a:buClr>
                <a:srgbClr val="000000"/>
              </a:buClr>
              <a:buSzPts val="1400"/>
              <a:buFont typeface="Arial"/>
              <a:buNone/>
              <a:defRPr b="0" cap="none" sz="1200" i="0" strike="noStrike" u="none">
                <a:solidFill>
                  <a:srgbClr val="888888"/>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580" name="Google Shape;14;p63"/>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1pPr>
            <a:lvl2pPr algn="r" indent="0" lvl="1"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2pPr>
            <a:lvl3pPr algn="r" indent="0" lvl="2"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3pPr>
            <a:lvl4pPr algn="r" indent="0" lvl="3"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4pPr>
            <a:lvl5pPr algn="r" indent="0" lvl="4"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5pPr>
            <a:lvl6pPr algn="r" indent="0" lvl="5"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6pPr>
            <a:lvl7pPr algn="r" indent="0" lvl="6"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7pPr>
            <a:lvl8pPr algn="r" indent="0" lvl="7"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8pPr>
            <a:lvl9pPr algn="r" indent="0" lvl="8" marL="0" marR="0" rtl="0">
              <a:lnSpc>
                <a:spcPct val="100000"/>
              </a:lnSpc>
              <a:spcBef>
                <a:spcPts val="0"/>
              </a:spcBef>
              <a:spcAft>
                <a:spcPts val="0"/>
              </a:spcAft>
              <a:buClr>
                <a:srgbClr val="000000"/>
              </a:buClr>
              <a:buSzPts val="1200"/>
              <a:buFont typeface="Arial"/>
              <a:buNone/>
              <a:defRPr b="0" cap="none" sz="1200" i="0" strike="noStrike" u="none">
                <a:solidFill>
                  <a:srgbClr val="888888"/>
                </a:solidFill>
                <a:latin typeface="Calibri"/>
                <a:ea typeface="Calibri"/>
                <a:cs typeface="Calibri"/>
                <a:sym typeface="Calibri"/>
              </a:defRPr>
            </a:lvl9pPr>
          </a:lstStyle>
          <a:p>
            <a:pPr algn="r" indent="0" lvl="0" marL="0" rtl="0">
              <a:spcBef>
                <a:spcPts val="0"/>
              </a:spcBef>
              <a:spcAft>
                <a:spcPts val="0"/>
              </a:spcAft>
              <a:buNone/>
            </a:pPr>
            <a:fld id="{00000000-1234-1234-1234-123412341234}" type="slidenum">
              <a:rPr lang="en-US"/>
              <a:t>‹#›</a:t>
            </a:fld>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google.com/spreadsheets/d/1PUyWhVZ434jdfX599PUsiDiWDPJVuD4HBwfe1eK8pVU/edit?gid=0%23gid=0"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docs.google.com/spreadsheets/d/1M4shAkNGfkYc66QKiURLsIj14eC-pgASmQbkicly2YY/edit?usp=sharing" TargetMode="External"/><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slideLayout" Target="../slideLayouts/slideLayout3.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Shape 87"/>
        <p:cNvGrpSpPr/>
        <p:nvPr/>
      </p:nvGrpSpPr>
      <p:grpSpPr>
        <a:xfrm>
          <a:off x="0" y="0"/>
          <a:ext cx="0" cy="0"/>
          <a:chOff x="0" y="0"/>
          <a:chExt cx="0" cy="0"/>
        </a:xfrm>
      </p:grpSpPr>
      <p:sp>
        <p:nvSpPr>
          <p:cNvPr id="1048586" name="Google Shape;88;p1"/>
          <p:cNvSpPr txBox="1"/>
          <p:nvPr>
            <p:ph type="subTitle" idx="1"/>
          </p:nvPr>
        </p:nvSpPr>
        <p:spPr>
          <a:xfrm>
            <a:off x="568350" y="2452775"/>
            <a:ext cx="11251200" cy="556800"/>
          </a:xfrm>
          <a:prstGeom prst="rect"/>
          <a:noFill/>
          <a:ln>
            <a:noFill/>
          </a:ln>
        </p:spPr>
        <p:txBody>
          <a:bodyPr anchor="t" anchorCtr="0" bIns="45700" lIns="91425" rIns="91425" spcFirstLastPara="1" tIns="45700" wrap="square">
            <a:noAutofit/>
          </a:bodyPr>
          <a:p>
            <a:pPr algn="ctr" indent="0" lvl="0" marL="0" rtl="0">
              <a:lnSpc>
                <a:spcPct val="90000"/>
              </a:lnSpc>
              <a:spcBef>
                <a:spcPts val="0"/>
              </a:spcBef>
              <a:spcAft>
                <a:spcPts val="0"/>
              </a:spcAft>
              <a:buClr>
                <a:schemeClr val="dk1"/>
              </a:buClr>
              <a:buSzPts val="2400"/>
              <a:buNone/>
            </a:pPr>
            <a:r>
              <a:rPr b="1" lang="en-US">
                <a:latin typeface="Times New Roman"/>
                <a:ea typeface="Times New Roman"/>
                <a:cs typeface="Times New Roman"/>
                <a:sym typeface="Times New Roman"/>
              </a:rPr>
              <a:t>DEPARTMENT OF ARTIFICIAL INTELLIGENCE AND MACHINE LEARNING</a:t>
            </a:r>
          </a:p>
        </p:txBody>
      </p:sp>
      <p:sp>
        <p:nvSpPr>
          <p:cNvPr id="1048587" name="Google Shape;89;p1"/>
          <p:cNvSpPr txBox="1"/>
          <p:nvPr/>
        </p:nvSpPr>
        <p:spPr>
          <a:xfrm>
            <a:off x="2287613" y="3705210"/>
            <a:ext cx="7343600" cy="556652"/>
          </a:xfrm>
          <a:prstGeom prst="rect"/>
          <a:noFill/>
          <a:ln>
            <a:noFill/>
          </a:ln>
          <a:effectLst>
            <a:outerShdw blurRad="25400">
              <a:srgbClr val="000000">
                <a:alpha val="43921"/>
              </a:srgbClr>
            </a:outerShdw>
          </a:effectLst>
        </p:spPr>
        <p:txBody>
          <a:bodyPr anchor="b" anchorCtr="0" bIns="45700" lIns="91425" rIns="91425" spcFirstLastPara="1" tIns="45700" wrap="square">
            <a:noAutofit/>
          </a:bodyPr>
          <a:p>
            <a:pPr algn="ctr" indent="0" lvl="0" marL="0" marR="0" rtl="0">
              <a:lnSpc>
                <a:spcPct val="100000"/>
              </a:lnSpc>
              <a:spcBef>
                <a:spcPts val="0"/>
              </a:spcBef>
              <a:spcAft>
                <a:spcPts val="0"/>
              </a:spcAft>
              <a:buClr>
                <a:schemeClr val="dk2"/>
              </a:buClr>
              <a:buSzPts val="3200"/>
              <a:buFont typeface="Calibri"/>
              <a:buNone/>
            </a:pPr>
            <a:r>
              <a:t/>
            </a:r>
            <a:endParaRPr b="1" cap="none" sz="3200" i="0" strike="noStrike" u="sng">
              <a:solidFill>
                <a:schemeClr val="dk1"/>
              </a:solidFill>
              <a:latin typeface="Times New Roman"/>
              <a:ea typeface="Times New Roman"/>
              <a:cs typeface="Times New Roman"/>
              <a:sym typeface="Times New Roman"/>
            </a:endParaRPr>
          </a:p>
        </p:txBody>
      </p:sp>
      <p:sp>
        <p:nvSpPr>
          <p:cNvPr id="1048588" name="Google Shape;90;p1"/>
          <p:cNvSpPr txBox="1"/>
          <p:nvPr/>
        </p:nvSpPr>
        <p:spPr>
          <a:xfrm>
            <a:off x="1020921" y="4399508"/>
            <a:ext cx="2806557" cy="419080"/>
          </a:xfrm>
          <a:prstGeom prst="rect"/>
          <a:noFill/>
          <a:ln>
            <a:noFill/>
          </a:ln>
          <a:effectLst>
            <a:outerShdw blurRad="25400">
              <a:srgbClr val="000000">
                <a:alpha val="43921"/>
              </a:srgbClr>
            </a:outerShdw>
          </a:effectLst>
        </p:spPr>
        <p:txBody>
          <a:bodyPr anchor="t" anchorCtr="0" bIns="45700" lIns="91425" rIns="91425" spcFirstLastPara="1" tIns="45700" wrap="square">
            <a:noAutofit/>
          </a:bodyPr>
          <a:p>
            <a:pPr algn="ctr" indent="0" lvl="0" marL="36900" marR="0" rtl="0">
              <a:lnSpc>
                <a:spcPct val="100000"/>
              </a:lnSpc>
              <a:spcBef>
                <a:spcPts val="0"/>
              </a:spcBef>
              <a:spcAft>
                <a:spcPts val="0"/>
              </a:spcAft>
              <a:buClr>
                <a:schemeClr val="dk2"/>
              </a:buClr>
              <a:buSzPts val="1960"/>
              <a:buFont typeface="Noto Sans Symbols"/>
              <a:buNone/>
            </a:pPr>
            <a:r>
              <a:rPr b="1" cap="none" sz="2800" i="0" lang="en-US" strike="noStrike" u="none">
                <a:solidFill>
                  <a:schemeClr val="dk1"/>
                </a:solidFill>
                <a:latin typeface="Times New Roman"/>
                <a:ea typeface="Times New Roman"/>
                <a:cs typeface="Times New Roman"/>
                <a:sym typeface="Times New Roman"/>
              </a:rPr>
              <a:t>Presented by :</a:t>
            </a:r>
            <a:endParaRPr b="0" cap="none" sz="1400" i="0" strike="noStrike" u="none">
              <a:solidFill>
                <a:srgbClr val="000000"/>
              </a:solidFill>
              <a:latin typeface="Arial"/>
              <a:ea typeface="Arial"/>
              <a:cs typeface="Arial"/>
              <a:sym typeface="Arial"/>
            </a:endParaRPr>
          </a:p>
          <a:p>
            <a:pPr algn="ctr" indent="0" lvl="0" marL="36900" marR="0" rtl="0">
              <a:lnSpc>
                <a:spcPct val="100000"/>
              </a:lnSpc>
              <a:spcBef>
                <a:spcPts val="1160"/>
              </a:spcBef>
              <a:spcAft>
                <a:spcPts val="0"/>
              </a:spcAft>
              <a:buClr>
                <a:schemeClr val="dk2"/>
              </a:buClr>
              <a:buSzPts val="1960"/>
              <a:buFont typeface="Noto Sans Symbols"/>
              <a:buNone/>
            </a:pPr>
            <a:r>
              <a:t/>
            </a:r>
            <a:endParaRPr b="1" cap="none" sz="1800" i="0" strike="noStrike" u="none">
              <a:solidFill>
                <a:schemeClr val="dk1"/>
              </a:solidFill>
              <a:latin typeface="Times New Roman"/>
              <a:ea typeface="Times New Roman"/>
              <a:cs typeface="Times New Roman"/>
              <a:sym typeface="Times New Roman"/>
            </a:endParaRPr>
          </a:p>
          <a:p>
            <a:pPr algn="ctr" indent="0" lvl="0" marL="36900" marR="0" rtl="0">
              <a:lnSpc>
                <a:spcPct val="100000"/>
              </a:lnSpc>
              <a:spcBef>
                <a:spcPts val="1160"/>
              </a:spcBef>
              <a:spcAft>
                <a:spcPts val="0"/>
              </a:spcAft>
              <a:buClr>
                <a:schemeClr val="dk2"/>
              </a:buClr>
              <a:buSzPts val="1960"/>
              <a:buFont typeface="Noto Sans Symbols"/>
              <a:buNone/>
            </a:pPr>
            <a:r>
              <a:t/>
            </a:r>
            <a:endParaRPr b="1" cap="none" sz="2800" i="0" strike="noStrike" u="none">
              <a:solidFill>
                <a:schemeClr val="dk1"/>
              </a:solidFill>
              <a:latin typeface="Times New Roman"/>
              <a:ea typeface="Times New Roman"/>
              <a:cs typeface="Times New Roman"/>
              <a:sym typeface="Times New Roman"/>
            </a:endParaRPr>
          </a:p>
        </p:txBody>
      </p:sp>
      <p:sp>
        <p:nvSpPr>
          <p:cNvPr id="1048589" name="Google Shape;91;p1"/>
          <p:cNvSpPr txBox="1"/>
          <p:nvPr/>
        </p:nvSpPr>
        <p:spPr>
          <a:xfrm>
            <a:off x="7447900" y="4551850"/>
            <a:ext cx="2806558" cy="419080"/>
          </a:xfrm>
          <a:prstGeom prst="rect"/>
          <a:noFill/>
          <a:ln>
            <a:noFill/>
          </a:ln>
          <a:effectLst>
            <a:outerShdw blurRad="25400">
              <a:srgbClr val="000000">
                <a:alpha val="43921"/>
              </a:srgbClr>
            </a:outerShdw>
          </a:effectLst>
        </p:spPr>
        <p:txBody>
          <a:bodyPr anchor="t" anchorCtr="0" bIns="45700" lIns="91425" rIns="91425" spcFirstLastPara="1" tIns="45700" wrap="square">
            <a:noAutofit/>
          </a:bodyPr>
          <a:p>
            <a:pPr algn="l" indent="0" lvl="0" marL="36900" marR="0" rtl="0">
              <a:lnSpc>
                <a:spcPct val="100000"/>
              </a:lnSpc>
              <a:spcBef>
                <a:spcPts val="0"/>
              </a:spcBef>
              <a:spcAft>
                <a:spcPts val="0"/>
              </a:spcAft>
              <a:buClr>
                <a:schemeClr val="dk2"/>
              </a:buClr>
              <a:buSzPts val="1960"/>
              <a:buFont typeface="Noto Sans Symbols"/>
              <a:buNone/>
            </a:pPr>
            <a:r>
              <a:rPr b="1" cap="none" sz="2800" i="0" lang="en-US" strike="noStrike" u="none">
                <a:solidFill>
                  <a:schemeClr val="dk1"/>
                </a:solidFill>
                <a:latin typeface="Times New Roman"/>
                <a:ea typeface="Times New Roman"/>
                <a:cs typeface="Times New Roman"/>
                <a:sym typeface="Times New Roman"/>
              </a:rPr>
              <a:t>Guided by </a:t>
            </a:r>
            <a:r>
              <a:rPr b="1" cap="none" sz="2800" i="0" lang="en-US" strike="noStrike" u="none">
                <a:solidFill>
                  <a:schemeClr val="dk2"/>
                </a:solidFill>
                <a:latin typeface="Times New Roman"/>
                <a:ea typeface="Times New Roman"/>
                <a:cs typeface="Times New Roman"/>
                <a:sym typeface="Times New Roman"/>
              </a:rPr>
              <a:t>:</a:t>
            </a:r>
            <a:endParaRPr b="0" cap="none" sz="1400" i="0" strike="noStrike" u="none">
              <a:solidFill>
                <a:srgbClr val="000000"/>
              </a:solidFill>
              <a:latin typeface="Arial"/>
              <a:ea typeface="Arial"/>
              <a:cs typeface="Arial"/>
              <a:sym typeface="Arial"/>
            </a:endParaRPr>
          </a:p>
        </p:txBody>
      </p:sp>
      <p:sp>
        <p:nvSpPr>
          <p:cNvPr id="1048590" name="Google Shape;92;p1"/>
          <p:cNvSpPr txBox="1"/>
          <p:nvPr/>
        </p:nvSpPr>
        <p:spPr>
          <a:xfrm>
            <a:off x="2424200" y="3095367"/>
            <a:ext cx="7343600" cy="453708"/>
          </a:xfrm>
          <a:prstGeom prst="rect"/>
          <a:noFill/>
          <a:ln>
            <a:noFill/>
          </a:ln>
        </p:spPr>
        <p:txBody>
          <a:bodyPr anchor="t" anchorCtr="0" bIns="45700" lIns="91425" rIns="91425" spcFirstLastPara="1" tIns="45700" wrap="square">
            <a:noAutofit/>
          </a:bodyPr>
          <a:p>
            <a:pPr algn="ctr" indent="0" lvl="0" marL="0" marR="0" rtl="0">
              <a:lnSpc>
                <a:spcPct val="90000"/>
              </a:lnSpc>
              <a:spcBef>
                <a:spcPts val="0"/>
              </a:spcBef>
              <a:spcAft>
                <a:spcPts val="0"/>
              </a:spcAft>
              <a:buClr>
                <a:schemeClr val="dk1"/>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20AM8201 - PROJECT WORK </a:t>
            </a:r>
            <a:endParaRPr b="1" cap="none" sz="2400" i="0" strike="noStrike" u="none">
              <a:solidFill>
                <a:schemeClr val="dk1"/>
              </a:solidFill>
              <a:latin typeface="Times New Roman"/>
              <a:ea typeface="Times New Roman"/>
              <a:cs typeface="Times New Roman"/>
              <a:sym typeface="Times New Roman"/>
            </a:endParaRPr>
          </a:p>
        </p:txBody>
      </p:sp>
      <p:sp>
        <p:nvSpPr>
          <p:cNvPr id="1048591" name="Google Shape;93;p1"/>
          <p:cNvSpPr txBox="1"/>
          <p:nvPr/>
        </p:nvSpPr>
        <p:spPr>
          <a:xfrm>
            <a:off x="2424200" y="3694069"/>
            <a:ext cx="7343600" cy="453708"/>
          </a:xfrm>
          <a:prstGeom prst="rect"/>
          <a:noFill/>
          <a:ln>
            <a:noFill/>
          </a:ln>
        </p:spPr>
        <p:txBody>
          <a:bodyPr anchor="t" anchorCtr="0" bIns="45700" lIns="91425" rIns="91425" spcFirstLastPara="1" tIns="45700" wrap="square">
            <a:noAutofit/>
          </a:bodyPr>
          <a:p>
            <a:pPr algn="ctr" indent="0" lvl="0" marL="0" marR="0" rtl="0">
              <a:lnSpc>
                <a:spcPct val="90000"/>
              </a:lnSpc>
              <a:spcBef>
                <a:spcPts val="0"/>
              </a:spcBef>
              <a:spcAft>
                <a:spcPts val="0"/>
              </a:spcAft>
              <a:buClr>
                <a:schemeClr val="dk1"/>
              </a:buClr>
              <a:buSzPts val="2800"/>
              <a:buFont typeface="Arial"/>
              <a:buNone/>
            </a:pPr>
            <a:r>
              <a:rPr b="1" cap="none" sz="2800" i="0" lang="en-US" strike="noStrike" u="none">
                <a:solidFill>
                  <a:schemeClr val="dk1"/>
                </a:solidFill>
                <a:latin typeface="Times New Roman"/>
                <a:ea typeface="Times New Roman"/>
                <a:cs typeface="Times New Roman"/>
                <a:sym typeface="Times New Roman"/>
              </a:rPr>
              <a:t>Batch - 0</a:t>
            </a:r>
            <a:r>
              <a:rPr b="1" sz="2800" lang="en-US">
                <a:solidFill>
                  <a:schemeClr val="dk1"/>
                </a:solidFill>
                <a:latin typeface="Times New Roman"/>
                <a:ea typeface="Times New Roman"/>
                <a:cs typeface="Times New Roman"/>
                <a:sym typeface="Times New Roman"/>
              </a:rPr>
              <a:t>1</a:t>
            </a:r>
            <a:endParaRPr b="1" cap="none" sz="2800" i="0" strike="noStrike" u="none">
              <a:solidFill>
                <a:schemeClr val="dk1"/>
              </a:solidFill>
              <a:latin typeface="Times New Roman"/>
              <a:ea typeface="Times New Roman"/>
              <a:cs typeface="Times New Roman"/>
              <a:sym typeface="Times New Roman"/>
            </a:endParaRPr>
          </a:p>
        </p:txBody>
      </p:sp>
      <p:pic>
        <p:nvPicPr>
          <p:cNvPr id="2097152" name="Google Shape;94;p1" title="logo.jpg"/>
          <p:cNvPicPr preferRelativeResize="0">
            <a:picLocks/>
          </p:cNvPicPr>
          <p:nvPr/>
        </p:nvPicPr>
        <p:blipFill rotWithShape="1">
          <a:blip xmlns:r="http://schemas.openxmlformats.org/officeDocument/2006/relationships" r:embed="rId1">
            <a:alphaModFix/>
          </a:blip>
          <a:srcRect l="0" t="0" r="0" b="0"/>
          <a:stretch>
            <a:fillRect/>
          </a:stretch>
        </p:blipFill>
        <p:spPr>
          <a:xfrm>
            <a:off x="2661763" y="329000"/>
            <a:ext cx="6868475" cy="1868450"/>
          </a:xfrm>
          <a:prstGeom prst="rect"/>
          <a:noFill/>
          <a:ln>
            <a:noFill/>
          </a:ln>
        </p:spPr>
      </p:pic>
      <p:sp>
        <p:nvSpPr>
          <p:cNvPr id="1048592" name="Google Shape;95;p1"/>
          <p:cNvSpPr txBox="1"/>
          <p:nvPr/>
        </p:nvSpPr>
        <p:spPr>
          <a:xfrm>
            <a:off x="1466071" y="5060620"/>
            <a:ext cx="4994787" cy="1158201"/>
          </a:xfrm>
          <a:prstGeom prst="rect"/>
          <a:noFill/>
          <a:ln>
            <a:noFill/>
          </a:ln>
        </p:spPr>
        <p:txBody>
          <a:bodyPr anchor="t" anchorCtr="0" bIns="45700" lIns="91425" rIns="91425" spcFirstLastPara="1" tIns="45700" wrap="square">
            <a:spAutoFit/>
          </a:bodyPr>
          <a:p>
            <a:pPr algn="l" indent="-285750" lvl="0" marL="28575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Times New Roman"/>
                <a:ea typeface="Times New Roman"/>
                <a:cs typeface="Times New Roman"/>
                <a:sym typeface="Times New Roman"/>
              </a:rPr>
              <a:t>ADEEBA AAISHA F	- 811722001001</a:t>
            </a:r>
            <a:endParaRPr b="0" cap="none" sz="1400" i="0" strike="noStrike" u="none">
              <a:solidFill>
                <a:srgbClr val="000000"/>
              </a:solidFill>
              <a:latin typeface="Arial"/>
              <a:ea typeface="Arial"/>
              <a:cs typeface="Arial"/>
              <a:sym typeface="Arial"/>
            </a:endParaRPr>
          </a:p>
          <a:p>
            <a:pPr algn="l" indent="-285750" lvl="0" marL="28575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Times New Roman"/>
                <a:ea typeface="Times New Roman"/>
                <a:cs typeface="Times New Roman"/>
                <a:sym typeface="Times New Roman"/>
              </a:rPr>
              <a:t>DHARSHINI R          	- 811722001009</a:t>
            </a:r>
            <a:endParaRPr b="0" cap="none" sz="1400" i="0" strike="noStrike" u="none">
              <a:solidFill>
                <a:srgbClr val="000000"/>
              </a:solidFill>
              <a:latin typeface="Arial"/>
              <a:ea typeface="Arial"/>
              <a:cs typeface="Arial"/>
              <a:sym typeface="Arial"/>
            </a:endParaRPr>
          </a:p>
          <a:p>
            <a:pPr algn="l" indent="-285750" lvl="0" marL="28575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Times New Roman"/>
                <a:ea typeface="Times New Roman"/>
                <a:cs typeface="Times New Roman"/>
                <a:sym typeface="Times New Roman"/>
              </a:rPr>
              <a:t>HARINI S                   	- 811722001013</a:t>
            </a:r>
            <a:endParaRPr b="0" cap="none" sz="1400" i="0" strike="noStrike" u="none">
              <a:solidFill>
                <a:srgbClr val="000000"/>
              </a:solidFill>
              <a:latin typeface="Arial"/>
              <a:ea typeface="Arial"/>
              <a:cs typeface="Arial"/>
              <a:sym typeface="Arial"/>
            </a:endParaRPr>
          </a:p>
          <a:p>
            <a:pPr algn="l" indent="-285750" lvl="0" marL="285750" marR="0" rtl="0">
              <a:lnSpc>
                <a:spcPct val="100000"/>
              </a:lnSpc>
              <a:spcBef>
                <a:spcPts val="0"/>
              </a:spcBef>
              <a:spcAft>
                <a:spcPts val="0"/>
              </a:spcAft>
              <a:buClr>
                <a:srgbClr val="000000"/>
              </a:buClr>
              <a:buSzPts val="1800"/>
              <a:buFont typeface="Arial"/>
              <a:buChar char="•"/>
            </a:pPr>
            <a:r>
              <a:rPr b="0" cap="none" sz="1800" i="0" lang="en-US" strike="noStrike" u="none">
                <a:solidFill>
                  <a:srgbClr val="000000"/>
                </a:solidFill>
                <a:latin typeface="Times New Roman"/>
                <a:ea typeface="Times New Roman"/>
                <a:cs typeface="Times New Roman"/>
                <a:sym typeface="Times New Roman"/>
              </a:rPr>
              <a:t>SHALINI V                	- 811722001045</a:t>
            </a:r>
            <a:endParaRPr b="0" cap="none" sz="1400" i="0" strike="noStrike" u="none">
              <a:solidFill>
                <a:srgbClr val="000000"/>
              </a:solidFill>
              <a:latin typeface="Arial"/>
              <a:ea typeface="Arial"/>
              <a:cs typeface="Arial"/>
              <a:sym typeface="Arial"/>
            </a:endParaRPr>
          </a:p>
        </p:txBody>
      </p:sp>
      <p:sp>
        <p:nvSpPr>
          <p:cNvPr id="1048593" name="Google Shape;96;p1"/>
          <p:cNvSpPr txBox="1"/>
          <p:nvPr/>
        </p:nvSpPr>
        <p:spPr>
          <a:xfrm>
            <a:off x="8032368" y="5260918"/>
            <a:ext cx="3716593" cy="646331"/>
          </a:xfrm>
          <a:prstGeom prst="rect"/>
          <a:no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1800"/>
              <a:buFont typeface="Arial"/>
              <a:buNone/>
            </a:pPr>
            <a:r>
              <a:rPr b="0" cap="none" sz="1800" i="0" lang="en-US" strike="noStrike" u="none">
                <a:solidFill>
                  <a:srgbClr val="000000"/>
                </a:solidFill>
                <a:latin typeface="Times New Roman"/>
                <a:ea typeface="Times New Roman"/>
                <a:cs typeface="Times New Roman"/>
                <a:sym typeface="Times New Roman"/>
              </a:rPr>
              <a:t>Dr .T.AVUDAIAPPAN, </a:t>
            </a:r>
            <a:endParaRPr b="0" cap="none" sz="1400" i="0" strike="noStrike" u="none">
              <a:solidFill>
                <a:srgbClr val="000000"/>
              </a:solidFill>
              <a:latin typeface="Arial"/>
              <a:ea typeface="Arial"/>
              <a:cs typeface="Arial"/>
              <a:sym typeface="Arial"/>
            </a:endParaRPr>
          </a:p>
          <a:p>
            <a:pPr algn="l" indent="0" lvl="0" marL="0" marR="0" rtl="0">
              <a:lnSpc>
                <a:spcPct val="100000"/>
              </a:lnSpc>
              <a:spcBef>
                <a:spcPts val="0"/>
              </a:spcBef>
              <a:spcAft>
                <a:spcPts val="0"/>
              </a:spcAft>
              <a:buClr>
                <a:srgbClr val="000000"/>
              </a:buClr>
              <a:buSzPts val="1800"/>
              <a:buFont typeface="Arial"/>
              <a:buNone/>
            </a:pPr>
            <a:r>
              <a:rPr b="0" cap="none" sz="1800" i="0" lang="en-US" strike="noStrike" u="none">
                <a:solidFill>
                  <a:srgbClr val="000000"/>
                </a:solidFill>
                <a:latin typeface="Times New Roman"/>
                <a:ea typeface="Times New Roman"/>
                <a:cs typeface="Times New Roman"/>
                <a:sym typeface="Times New Roman"/>
              </a:rPr>
              <a:t>   Professor/AI</a:t>
            </a:r>
            <a:endParaRPr b="0" cap="none" sz="1400" i="0" strike="noStrike" u="none">
              <a:solidFill>
                <a:srgbClr val="000000"/>
              </a:solidFill>
              <a:latin typeface="Arial"/>
              <a:ea typeface="Arial"/>
              <a:cs typeface="Arial"/>
              <a:sym typeface="Arial"/>
            </a:endParaRPr>
          </a:p>
        </p:txBody>
      </p:sp>
      <p:sp>
        <p:nvSpPr>
          <p:cNvPr id="1048594" name="Google Shape;97;p1"/>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1</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0" name="Shape 101"/>
        <p:cNvGrpSpPr/>
        <p:nvPr/>
      </p:nvGrpSpPr>
      <p:grpSpPr>
        <a:xfrm>
          <a:off x="0" y="0"/>
          <a:ext cx="0" cy="0"/>
          <a:chOff x="0" y="0"/>
          <a:chExt cx="0" cy="0"/>
        </a:xfrm>
      </p:grpSpPr>
      <p:sp>
        <p:nvSpPr>
          <p:cNvPr id="1048602" name="Google Shape;102;p2"/>
          <p:cNvSpPr txBox="1"/>
          <p:nvPr/>
        </p:nvSpPr>
        <p:spPr>
          <a:xfrm>
            <a:off x="1179871" y="2349910"/>
            <a:ext cx="9950100" cy="1539201"/>
          </a:xfrm>
          <a:prstGeom prst="rect"/>
          <a:noFill/>
          <a:ln>
            <a:noFill/>
          </a:ln>
        </p:spPr>
        <p:txBody>
          <a:bodyPr anchor="t" anchorCtr="0" bIns="45700" lIns="91425" rIns="91425" spcFirstLastPara="1" tIns="45700" wrap="square">
            <a:spAutoFit/>
          </a:bodyPr>
          <a:p>
            <a:pPr algn="ctr" indent="0" lvl="0" marL="0" marR="0" rtl="0">
              <a:lnSpc>
                <a:spcPct val="100000"/>
              </a:lnSpc>
              <a:spcBef>
                <a:spcPts val="0"/>
              </a:spcBef>
              <a:spcAft>
                <a:spcPts val="0"/>
              </a:spcAft>
              <a:buClr>
                <a:srgbClr val="000000"/>
              </a:buClr>
              <a:buSzPts val="3200"/>
              <a:buFont typeface="Arial"/>
              <a:buNone/>
            </a:pPr>
            <a:r>
              <a:rPr b="1" cap="none" sz="3200" i="0" lang="en-US" strike="noStrike" u="none">
                <a:solidFill>
                  <a:srgbClr val="000000"/>
                </a:solidFill>
                <a:latin typeface="Times New Roman"/>
                <a:ea typeface="Times New Roman"/>
                <a:cs typeface="Times New Roman"/>
                <a:sym typeface="Times New Roman"/>
              </a:rPr>
              <a:t>AN INNOVATIVE CLINICAL DECISION SUPPORT FRAMEWORK FOR DIABETES BASED ON DEEP AND ENSEMBLE DEEP LEARNING</a:t>
            </a:r>
            <a:endParaRPr b="0" cap="none" sz="1400" i="0" strike="noStrike" u="none">
              <a:solidFill>
                <a:srgbClr val="000000"/>
              </a:solidFill>
              <a:latin typeface="Arial"/>
              <a:ea typeface="Arial"/>
              <a:cs typeface="Arial"/>
              <a:sym typeface="Arial"/>
            </a:endParaRPr>
          </a:p>
        </p:txBody>
      </p:sp>
      <p:sp>
        <p:nvSpPr>
          <p:cNvPr id="1048603" name="Google Shape;103;p2"/>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2</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4" name="Shape 107"/>
        <p:cNvGrpSpPr/>
        <p:nvPr/>
      </p:nvGrpSpPr>
      <p:grpSpPr>
        <a:xfrm>
          <a:off x="0" y="0"/>
          <a:ext cx="0" cy="0"/>
          <a:chOff x="0" y="0"/>
          <a:chExt cx="0" cy="0"/>
        </a:xfrm>
      </p:grpSpPr>
      <p:sp>
        <p:nvSpPr>
          <p:cNvPr id="1048610" name="Google Shape;108;p3"/>
          <p:cNvSpPr txBox="1"/>
          <p:nvPr>
            <p:ph type="title"/>
          </p:nvPr>
        </p:nvSpPr>
        <p:spPr>
          <a:xfrm>
            <a:off x="403122" y="240112"/>
            <a:ext cx="10333127" cy="1325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Times New Roman"/>
              <a:buNone/>
            </a:pPr>
            <a:r>
              <a:rPr b="1" sz="3200" lang="en-US">
                <a:latin typeface="Times New Roman"/>
                <a:ea typeface="Times New Roman"/>
                <a:cs typeface="Times New Roman"/>
                <a:sym typeface="Times New Roman"/>
              </a:rPr>
              <a:t>RESEARCH OBJECTIVE</a:t>
            </a:r>
            <a:endParaRPr sz="3200"/>
          </a:p>
        </p:txBody>
      </p:sp>
      <p:sp>
        <p:nvSpPr>
          <p:cNvPr id="1048611" name="Google Shape;109;p3"/>
          <p:cNvSpPr txBox="1"/>
          <p:nvPr/>
        </p:nvSpPr>
        <p:spPr>
          <a:xfrm>
            <a:off x="698089" y="1565812"/>
            <a:ext cx="10417200" cy="3698200"/>
          </a:xfrm>
          <a:prstGeom prst="rect"/>
          <a:noFill/>
          <a:ln>
            <a:noFill/>
          </a:ln>
        </p:spPr>
        <p:txBody>
          <a:bodyPr anchor="t" anchorCtr="0" bIns="45700" lIns="91425" rIns="91425" spcFirstLastPara="1" tIns="45700" wrap="square">
            <a:spAutoFit/>
          </a:bodyPr>
          <a:p>
            <a:pPr algn="just" indent="-228600" lvl="0" marL="228600" marR="0" rtl="0">
              <a:lnSpc>
                <a:spcPct val="100000"/>
              </a:lnSpc>
              <a:spcBef>
                <a:spcPts val="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To develop a clinical decision support system for diabetes using deep learning models to accurately predict and classify diabetes conditions from patient data.</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chemeClr val="dk1"/>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a:p>
            <a:pPr algn="just" indent="-228600" lvl="0" marL="228600" marR="0" rtl="0">
              <a:lnSpc>
                <a:spcPct val="100000"/>
              </a:lnSpc>
              <a:spcBef>
                <a:spcPts val="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To improve prediction performance by combining multiple deep learning models (ensemble approach), reducing errors compared to single models.</a:t>
            </a:r>
            <a:endParaRPr b="0" cap="none" sz="2400" i="0" strike="noStrike" u="none">
              <a:solidFill>
                <a:schemeClr val="dk1"/>
              </a:solidFill>
              <a:latin typeface="Times New Roman"/>
              <a:ea typeface="Times New Roman"/>
              <a:cs typeface="Times New Roman"/>
              <a:sym typeface="Times New Roman"/>
            </a:endParaRPr>
          </a:p>
          <a:p>
            <a:pPr algn="just" indent="-228600" lvl="0" marL="228600" marR="0" rtl="0">
              <a:lnSpc>
                <a:spcPct val="100000"/>
              </a:lnSpc>
              <a:spcBef>
                <a:spcPts val="0"/>
              </a:spcBef>
              <a:spcAft>
                <a:spcPts val="0"/>
              </a:spcAft>
              <a:buClr>
                <a:schemeClr val="dk1"/>
              </a:buClr>
              <a:buSzPts val="2400"/>
              <a:buFont typeface="Times New Roman"/>
              <a:buChar char="•"/>
            </a:pPr>
            <a:endParaRPr b="0" cap="none" sz="2400" i="0" strike="noStrike" u="none">
              <a:solidFill>
                <a:schemeClr val="dk1"/>
              </a:solidFill>
              <a:latin typeface="Times New Roman"/>
              <a:ea typeface="Times New Roman"/>
              <a:cs typeface="Times New Roman"/>
              <a:sym typeface="Times New Roman"/>
            </a:endParaRPr>
          </a:p>
          <a:p>
            <a:pPr algn="just" indent="-228600" lvl="0" marL="228600" marR="0" rtl="0">
              <a:lnSpc>
                <a:spcPct val="100000"/>
              </a:lnSpc>
              <a:spcBef>
                <a:spcPts val="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To support doctors in early diagnosis and treatment decisions by providing reliable, data-driven insights in a simple and efficient manner.</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rgbClr val="000000"/>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p:txBody>
      </p:sp>
      <p:sp>
        <p:nvSpPr>
          <p:cNvPr id="1048612" name="Google Shape;110;p3"/>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3</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7" name="Shape 115"/>
        <p:cNvGrpSpPr/>
        <p:nvPr/>
      </p:nvGrpSpPr>
      <p:grpSpPr>
        <a:xfrm>
          <a:off x="0" y="0"/>
          <a:ext cx="0" cy="0"/>
          <a:chOff x="0" y="0"/>
          <a:chExt cx="0" cy="0"/>
        </a:xfrm>
      </p:grpSpPr>
      <p:sp>
        <p:nvSpPr>
          <p:cNvPr id="1048615" name="Google Shape;116;p4"/>
          <p:cNvSpPr txBox="1"/>
          <p:nvPr>
            <p:ph type="title"/>
          </p:nvPr>
        </p:nvSpPr>
        <p:spPr>
          <a:xfrm>
            <a:off x="424417" y="316375"/>
            <a:ext cx="10441858" cy="1325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RESEARCH QUESTIONS</a:t>
            </a:r>
            <a:endParaRPr b="1" sz="3200">
              <a:latin typeface="Times New Roman"/>
              <a:ea typeface="Times New Roman"/>
              <a:cs typeface="Times New Roman"/>
              <a:sym typeface="Times New Roman"/>
            </a:endParaRPr>
          </a:p>
        </p:txBody>
      </p:sp>
      <p:sp>
        <p:nvSpPr>
          <p:cNvPr id="1048616" name="Google Shape;117;p4"/>
          <p:cNvSpPr txBox="1"/>
          <p:nvPr/>
        </p:nvSpPr>
        <p:spPr>
          <a:xfrm>
            <a:off x="776748" y="1642075"/>
            <a:ext cx="10441800" cy="3291799"/>
          </a:xfrm>
          <a:prstGeom prst="rect"/>
          <a:noFill/>
          <a:ln>
            <a:noFill/>
          </a:ln>
        </p:spPr>
        <p:txBody>
          <a:bodyPr anchor="t" anchorCtr="0" bIns="45700" lIns="91425" rIns="91425" spcFirstLastPara="1" tIns="45700" wrap="square">
            <a:spAutoFit/>
          </a:bodyPr>
          <a:p>
            <a:pPr algn="just" indent="-330200" lvl="0" marL="457200" marR="0" rtl="0">
              <a:lnSpc>
                <a:spcPct val="150000"/>
              </a:lnSpc>
              <a:spcBef>
                <a:spcPts val="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Can deep learning models accurately predict diabetes using clinical patient data?</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50000"/>
              </a:lnSpc>
              <a:spcBef>
                <a:spcPts val="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Does an ensemble of deep learning models perform better than a single deep learning model in diabetes prediction?</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50000"/>
              </a:lnSpc>
              <a:spcBef>
                <a:spcPts val="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Can the proposed clinical decision support system assist healthcare professionals in making faster and more reliable decisions?</a:t>
            </a:r>
            <a:endParaRPr b="0" cap="none" sz="2400" i="0" strike="noStrike" u="none">
              <a:solidFill>
                <a:schemeClr val="dk1"/>
              </a:solidFill>
              <a:latin typeface="Times New Roman"/>
              <a:ea typeface="Times New Roman"/>
              <a:cs typeface="Times New Roman"/>
              <a:sym typeface="Times New Roman"/>
            </a:endParaRPr>
          </a:p>
        </p:txBody>
      </p:sp>
      <p:sp>
        <p:nvSpPr>
          <p:cNvPr id="1048617" name="Google Shape;118;p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4</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0" name="Shape 123"/>
        <p:cNvGrpSpPr/>
        <p:nvPr/>
      </p:nvGrpSpPr>
      <p:grpSpPr>
        <a:xfrm>
          <a:off x="0" y="0"/>
          <a:ext cx="0" cy="0"/>
          <a:chOff x="0" y="0"/>
          <a:chExt cx="0" cy="0"/>
        </a:xfrm>
      </p:grpSpPr>
      <p:sp>
        <p:nvSpPr>
          <p:cNvPr id="1048621" name="Google Shape;124;p5"/>
          <p:cNvSpPr txBox="1"/>
          <p:nvPr>
            <p:ph type="title"/>
          </p:nvPr>
        </p:nvSpPr>
        <p:spPr>
          <a:xfrm>
            <a:off x="452283" y="202625"/>
            <a:ext cx="10413991" cy="1325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FRAMEWORK - PICO </a:t>
            </a:r>
            <a:endParaRPr b="1" sz="3200">
              <a:latin typeface="Times New Roman"/>
              <a:ea typeface="Times New Roman"/>
              <a:cs typeface="Times New Roman"/>
              <a:sym typeface="Times New Roman"/>
            </a:endParaRPr>
          </a:p>
        </p:txBody>
      </p:sp>
      <p:sp>
        <p:nvSpPr>
          <p:cNvPr id="1048622" name="Google Shape;125;p5"/>
          <p:cNvSpPr txBox="1"/>
          <p:nvPr/>
        </p:nvSpPr>
        <p:spPr>
          <a:xfrm>
            <a:off x="894736" y="1528325"/>
            <a:ext cx="10235400" cy="3698200"/>
          </a:xfrm>
          <a:prstGeom prst="rect"/>
          <a:noFill/>
          <a:ln>
            <a:noFill/>
          </a:ln>
        </p:spPr>
        <p:txBody>
          <a:bodyPr anchor="t" anchorCtr="0" bIns="45700" lIns="91425" rIns="91425" spcFirstLastPara="1" tIns="45700" wrap="square">
            <a:spAutoFit/>
          </a:bodyPr>
          <a:p>
            <a:pPr algn="l" indent="-342900" lvl="0" marL="342900" marR="0" rtl="0">
              <a:lnSpc>
                <a:spcPct val="100000"/>
              </a:lnSpc>
              <a:spcBef>
                <a:spcPts val="0"/>
              </a:spcBef>
              <a:spcAft>
                <a:spcPts val="0"/>
              </a:spcAft>
              <a:buClr>
                <a:srgbClr val="000000"/>
              </a:buClr>
              <a:buSzPts val="2800"/>
              <a:buFont typeface="Times New Roman"/>
              <a:buChar char="•"/>
            </a:pPr>
            <a:r>
              <a:rPr b="1" cap="none" sz="2400" i="0" lang="en-US" strike="noStrike" u="none">
                <a:solidFill>
                  <a:srgbClr val="000000"/>
                </a:solidFill>
                <a:latin typeface="Times New Roman"/>
                <a:ea typeface="Times New Roman"/>
                <a:cs typeface="Times New Roman"/>
                <a:sym typeface="Times New Roman"/>
              </a:rPr>
              <a:t>Population</a:t>
            </a:r>
            <a:r>
              <a:rPr b="0" cap="none" sz="2400" i="0" lang="en-US" strike="noStrike" u="none">
                <a:solidFill>
                  <a:srgbClr val="000000"/>
                </a:solidFill>
                <a:latin typeface="Times New Roman"/>
                <a:ea typeface="Times New Roman"/>
                <a:cs typeface="Times New Roman"/>
                <a:sym typeface="Times New Roman"/>
              </a:rPr>
              <a:t>: Patients with clinical data related to diabetes (e.g., blood glucose, BMI, age, medical history).</a:t>
            </a:r>
            <a:br>
              <a:rPr b="0" cap="none" sz="2400" i="0" lang="en-US" strike="noStrike" u="none">
                <a:solidFill>
                  <a:srgbClr val="000000"/>
                </a:solidFill>
                <a:latin typeface="Times New Roman"/>
                <a:ea typeface="Times New Roman"/>
                <a:cs typeface="Times New Roman"/>
                <a:sym typeface="Times New Roman"/>
              </a:rPr>
            </a:br>
            <a:endParaRPr b="0" cap="none" sz="2400" i="0" strike="noStrike" u="none">
              <a:solidFill>
                <a:srgbClr val="000000"/>
              </a:solidFill>
              <a:latin typeface="Times New Roman"/>
              <a:ea typeface="Times New Roman"/>
              <a:cs typeface="Times New Roman"/>
              <a:sym typeface="Times New Roman"/>
            </a:endParaRPr>
          </a:p>
          <a:p>
            <a:pPr algn="l" indent="-342900" lvl="0" marL="342900" marR="0" rtl="0">
              <a:lnSpc>
                <a:spcPct val="100000"/>
              </a:lnSpc>
              <a:spcBef>
                <a:spcPts val="0"/>
              </a:spcBef>
              <a:spcAft>
                <a:spcPts val="0"/>
              </a:spcAft>
              <a:buClr>
                <a:srgbClr val="000000"/>
              </a:buClr>
              <a:buSzPts val="2800"/>
              <a:buFont typeface="Times New Roman"/>
              <a:buChar char="•"/>
            </a:pPr>
            <a:r>
              <a:rPr b="1" cap="none" sz="2400" i="0" lang="en-US" strike="noStrike" u="none">
                <a:solidFill>
                  <a:srgbClr val="000000"/>
                </a:solidFill>
                <a:latin typeface="Times New Roman"/>
                <a:ea typeface="Times New Roman"/>
                <a:cs typeface="Times New Roman"/>
                <a:sym typeface="Times New Roman"/>
              </a:rPr>
              <a:t>Intervention</a:t>
            </a:r>
            <a:r>
              <a:rPr b="0" cap="none" sz="2400" i="0" lang="en-US" strike="noStrike" u="none">
                <a:solidFill>
                  <a:srgbClr val="000000"/>
                </a:solidFill>
                <a:latin typeface="Times New Roman"/>
                <a:ea typeface="Times New Roman"/>
                <a:cs typeface="Times New Roman"/>
                <a:sym typeface="Times New Roman"/>
              </a:rPr>
              <a:t>: Deep learning–based clinical decision support system using ensemble deep learning models.</a:t>
            </a:r>
            <a:endParaRPr b="0" cap="none" sz="2400" i="0" strike="noStrike" u="none">
              <a:solidFill>
                <a:srgbClr val="000000"/>
              </a:solidFill>
              <a:latin typeface="Times New Roman"/>
              <a:ea typeface="Times New Roman"/>
              <a:cs typeface="Times New Roman"/>
              <a:sym typeface="Times New Roman"/>
            </a:endParaRPr>
          </a:p>
          <a:p>
            <a:pPr algn="l" indent="0" lvl="0" marL="457200" marR="0" rtl="0">
              <a:lnSpc>
                <a:spcPct val="100000"/>
              </a:lnSpc>
              <a:spcBef>
                <a:spcPts val="0"/>
              </a:spcBef>
              <a:spcAft>
                <a:spcPts val="0"/>
              </a:spcAft>
              <a:buClr>
                <a:srgbClr val="000000"/>
              </a:buClr>
              <a:buSzPts val="2400"/>
              <a:buFont typeface="Arial"/>
              <a:buNone/>
            </a:pPr>
            <a:r>
              <a:t/>
            </a:r>
            <a:endParaRPr b="0" cap="none" sz="2400" i="0" strike="noStrike" u="none">
              <a:solidFill>
                <a:srgbClr val="000000"/>
              </a:solidFill>
              <a:latin typeface="Times New Roman"/>
              <a:ea typeface="Times New Roman"/>
              <a:cs typeface="Times New Roman"/>
              <a:sym typeface="Times New Roman"/>
            </a:endParaRPr>
          </a:p>
          <a:p>
            <a:pPr algn="l" indent="-342900" lvl="0" marL="342900" marR="0" rtl="0">
              <a:lnSpc>
                <a:spcPct val="100000"/>
              </a:lnSpc>
              <a:spcBef>
                <a:spcPts val="0"/>
              </a:spcBef>
              <a:spcAft>
                <a:spcPts val="0"/>
              </a:spcAft>
              <a:buClr>
                <a:srgbClr val="000000"/>
              </a:buClr>
              <a:buSzPts val="2800"/>
              <a:buFont typeface="Times New Roman"/>
              <a:buChar char="•"/>
            </a:pPr>
            <a:r>
              <a:rPr b="1" cap="none" sz="2400" i="0" lang="en-US" strike="noStrike" u="none">
                <a:solidFill>
                  <a:srgbClr val="000000"/>
                </a:solidFill>
                <a:latin typeface="Times New Roman"/>
                <a:ea typeface="Times New Roman"/>
                <a:cs typeface="Times New Roman"/>
                <a:sym typeface="Times New Roman"/>
              </a:rPr>
              <a:t>Comparison</a:t>
            </a:r>
            <a:r>
              <a:rPr b="0" cap="none" sz="2400" i="0" lang="en-US" strike="noStrike" u="none">
                <a:solidFill>
                  <a:srgbClr val="000000"/>
                </a:solidFill>
                <a:latin typeface="Times New Roman"/>
                <a:ea typeface="Times New Roman"/>
                <a:cs typeface="Times New Roman"/>
                <a:sym typeface="Times New Roman"/>
              </a:rPr>
              <a:t>: Traditional machine learning methods or single deep learning models.</a:t>
            </a:r>
            <a:endParaRPr b="0" cap="none" sz="2400" i="0" strike="noStrike" u="none">
              <a:solidFill>
                <a:srgbClr val="000000"/>
              </a:solidFill>
              <a:latin typeface="Times New Roman"/>
              <a:ea typeface="Times New Roman"/>
              <a:cs typeface="Times New Roman"/>
              <a:sym typeface="Times New Roman"/>
            </a:endParaRPr>
          </a:p>
          <a:p>
            <a:pPr algn="l" indent="0" lvl="0" marL="457200" marR="0" rtl="0">
              <a:lnSpc>
                <a:spcPct val="100000"/>
              </a:lnSpc>
              <a:spcBef>
                <a:spcPts val="0"/>
              </a:spcBef>
              <a:spcAft>
                <a:spcPts val="0"/>
              </a:spcAft>
              <a:buClr>
                <a:srgbClr val="000000"/>
              </a:buClr>
              <a:buSzPts val="2400"/>
              <a:buFont typeface="Arial"/>
              <a:buNone/>
            </a:pPr>
            <a:r>
              <a:t/>
            </a:r>
            <a:endParaRPr b="0" cap="none" sz="2400" i="0" strike="noStrike" u="none">
              <a:solidFill>
                <a:srgbClr val="000000"/>
              </a:solidFill>
              <a:latin typeface="Times New Roman"/>
              <a:ea typeface="Times New Roman"/>
              <a:cs typeface="Times New Roman"/>
              <a:sym typeface="Times New Roman"/>
            </a:endParaRPr>
          </a:p>
          <a:p>
            <a:pPr algn="l" indent="-342900" lvl="0" marL="342900" marR="0" rtl="0">
              <a:lnSpc>
                <a:spcPct val="100000"/>
              </a:lnSpc>
              <a:spcBef>
                <a:spcPts val="0"/>
              </a:spcBef>
              <a:spcAft>
                <a:spcPts val="0"/>
              </a:spcAft>
              <a:buClr>
                <a:srgbClr val="000000"/>
              </a:buClr>
              <a:buSzPts val="2800"/>
              <a:buFont typeface="Times New Roman"/>
              <a:buChar char="•"/>
            </a:pPr>
            <a:r>
              <a:rPr b="1" cap="none" sz="2400" i="0" lang="en-US" strike="noStrike" u="none">
                <a:solidFill>
                  <a:srgbClr val="000000"/>
                </a:solidFill>
                <a:latin typeface="Times New Roman"/>
                <a:ea typeface="Times New Roman"/>
                <a:cs typeface="Times New Roman"/>
                <a:sym typeface="Times New Roman"/>
              </a:rPr>
              <a:t>Outcome</a:t>
            </a:r>
            <a:r>
              <a:rPr b="0" cap="none" sz="2400" i="0" lang="en-US" strike="noStrike" u="none">
                <a:solidFill>
                  <a:srgbClr val="000000"/>
                </a:solidFill>
                <a:latin typeface="Times New Roman"/>
                <a:ea typeface="Times New Roman"/>
                <a:cs typeface="Times New Roman"/>
                <a:sym typeface="Times New Roman"/>
              </a:rPr>
              <a:t>: Improved accuracy and reliability in diabetes prediction and clinical decision-making.</a:t>
            </a:r>
            <a:endParaRPr b="0" cap="none" sz="1400" i="0" strike="noStrike" u="none">
              <a:solidFill>
                <a:srgbClr val="000000"/>
              </a:solidFill>
              <a:latin typeface="Arial"/>
              <a:ea typeface="Arial"/>
              <a:cs typeface="Arial"/>
              <a:sym typeface="Arial"/>
            </a:endParaRPr>
          </a:p>
        </p:txBody>
      </p:sp>
      <p:sp>
        <p:nvSpPr>
          <p:cNvPr id="1048623" name="Google Shape;126;p5"/>
          <p:cNvSpPr txBox="1"/>
          <p:nvPr>
            <p:ph type="sldNum" idx="12"/>
          </p:nvPr>
        </p:nvSpPr>
        <p:spPr>
          <a:xfrm>
            <a:off x="8610600" y="64325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3" name="Shape 130"/>
        <p:cNvGrpSpPr/>
        <p:nvPr/>
      </p:nvGrpSpPr>
      <p:grpSpPr>
        <a:xfrm>
          <a:off x="0" y="0"/>
          <a:ext cx="0" cy="0"/>
          <a:chOff x="0" y="0"/>
          <a:chExt cx="0" cy="0"/>
        </a:xfrm>
      </p:grpSpPr>
      <p:sp>
        <p:nvSpPr>
          <p:cNvPr id="1048627" name="Google Shape;131;p6"/>
          <p:cNvSpPr txBox="1"/>
          <p:nvPr/>
        </p:nvSpPr>
        <p:spPr>
          <a:xfrm>
            <a:off x="491100" y="481110"/>
            <a:ext cx="11681700" cy="584735"/>
          </a:xfrm>
          <a:prstGeom prst="rect"/>
          <a:no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3200"/>
              <a:buFont typeface="Arial"/>
              <a:buNone/>
            </a:pPr>
            <a:r>
              <a:rPr b="1" cap="none" sz="3200" i="0" lang="en-US" strike="noStrike" u="none">
                <a:solidFill>
                  <a:schemeClr val="dk1"/>
                </a:solidFill>
                <a:latin typeface="Times New Roman"/>
                <a:ea typeface="Times New Roman"/>
                <a:cs typeface="Times New Roman"/>
                <a:sym typeface="Times New Roman"/>
              </a:rPr>
              <a:t>LITERATURE SURVEY</a:t>
            </a:r>
            <a:endParaRPr b="1" cap="none" sz="3200" i="0" strike="noStrike" u="none">
              <a:solidFill>
                <a:schemeClr val="dk1"/>
              </a:solidFill>
              <a:latin typeface="Times New Roman"/>
              <a:ea typeface="Times New Roman"/>
              <a:cs typeface="Times New Roman"/>
              <a:sym typeface="Times New Roman"/>
            </a:endParaRPr>
          </a:p>
        </p:txBody>
      </p:sp>
      <p:sp>
        <p:nvSpPr>
          <p:cNvPr id="1048628" name="Google Shape;132;p6"/>
          <p:cNvSpPr txBox="1"/>
          <p:nvPr/>
        </p:nvSpPr>
        <p:spPr>
          <a:xfrm>
            <a:off x="491100" y="2556891"/>
            <a:ext cx="11209800" cy="104645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4400"/>
              <a:buFont typeface="Arial"/>
              <a:buNone/>
            </a:pPr>
            <a:r>
              <a:rPr b="0" cap="none" sz="4400" i="0" lang="en-US" strike="noStrike" u="sng">
                <a:solidFill>
                  <a:schemeClr val="hlink"/>
                </a:solidFill>
                <a:latin typeface="Times New Roman"/>
                <a:ea typeface="Times New Roman"/>
                <a:cs typeface="Times New Roman"/>
                <a:sym typeface="Times New Roman"/>
                <a:hlinkClick r:id="rId1"/>
              </a:rPr>
              <a:t>Literature Survey Link</a:t>
            </a:r>
            <a:endParaRPr b="0" cap="none" sz="4400" i="0" strike="noStrike" u="none">
              <a:solidFill>
                <a:schemeClr val="dk1"/>
              </a:solidFill>
              <a:latin typeface="Times New Roman"/>
              <a:ea typeface="Times New Roman"/>
              <a:cs typeface="Times New Roman"/>
              <a:sym typeface="Times New Roman"/>
            </a:endParaRPr>
          </a:p>
          <a:p>
            <a:pPr algn="ctr" indent="0" lvl="0" marL="0" marR="0" rtl="0">
              <a:lnSpc>
                <a:spcPct val="100000"/>
              </a:lnSpc>
              <a:spcBef>
                <a:spcPts val="0"/>
              </a:spcBef>
              <a:spcAft>
                <a:spcPts val="0"/>
              </a:spcAft>
              <a:buClr>
                <a:srgbClr val="000000"/>
              </a:buClr>
              <a:buSzPts val="3200"/>
              <a:buFont typeface="Arial"/>
              <a:buNone/>
            </a:pPr>
            <a:r>
              <a:t/>
            </a:r>
            <a:endParaRPr b="0" cap="none" sz="3200" i="0" strike="noStrike" u="none">
              <a:solidFill>
                <a:schemeClr val="dk1"/>
              </a:solidFill>
              <a:latin typeface="Times New Roman"/>
              <a:ea typeface="Times New Roman"/>
              <a:cs typeface="Times New Roman"/>
              <a:sym typeface="Times New Roman"/>
            </a:endParaRPr>
          </a:p>
        </p:txBody>
      </p:sp>
      <p:sp>
        <p:nvSpPr>
          <p:cNvPr id="1048629" name="Google Shape;133;p6"/>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6</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6" name="Shape 138"/>
        <p:cNvGrpSpPr/>
        <p:nvPr/>
      </p:nvGrpSpPr>
      <p:grpSpPr>
        <a:xfrm>
          <a:off x="0" y="0"/>
          <a:ext cx="0" cy="0"/>
          <a:chOff x="0" y="0"/>
          <a:chExt cx="0" cy="0"/>
        </a:xfrm>
      </p:grpSpPr>
      <p:sp>
        <p:nvSpPr>
          <p:cNvPr id="1048632" name="Google Shape;139;p7"/>
          <p:cNvSpPr txBox="1"/>
          <p:nvPr>
            <p:ph type="title"/>
          </p:nvPr>
        </p:nvSpPr>
        <p:spPr>
          <a:xfrm>
            <a:off x="386075" y="280775"/>
            <a:ext cx="10564200" cy="7542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SYNTHESIS &amp; SUMMARIZATION</a:t>
            </a:r>
            <a:endParaRPr b="1" sz="3200">
              <a:latin typeface="Times New Roman"/>
              <a:ea typeface="Times New Roman"/>
              <a:cs typeface="Times New Roman"/>
              <a:sym typeface="Times New Roman"/>
            </a:endParaRPr>
          </a:p>
        </p:txBody>
      </p:sp>
      <p:sp>
        <p:nvSpPr>
          <p:cNvPr id="1048633" name="Google Shape;140;p7"/>
          <p:cNvSpPr txBox="1"/>
          <p:nvPr/>
        </p:nvSpPr>
        <p:spPr>
          <a:xfrm>
            <a:off x="872475" y="1136150"/>
            <a:ext cx="10660500" cy="4221450"/>
          </a:xfrm>
          <a:prstGeom prst="rect"/>
          <a:noFill/>
          <a:ln>
            <a:noFill/>
          </a:ln>
        </p:spPr>
        <p:txBody>
          <a:bodyPr anchor="t" anchorCtr="0" bIns="91425" lIns="91425" rIns="91425" spcFirstLastPara="1" tIns="91425" wrap="square">
            <a:spAutoFit/>
          </a:bodyPr>
          <a:p>
            <a:pPr algn="just" indent="-342900" lvl="0" marL="4191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Recent research in diabetes prediction focuses on developing accurate and reliable clinical decision support systems using deep learning and ensemble deep learning models for clinical use.</a:t>
            </a:r>
            <a:endParaRPr b="0" cap="none" sz="2400" i="0" strike="noStrike" u="none">
              <a:solidFill>
                <a:srgbClr val="000000"/>
              </a:solidFill>
              <a:latin typeface="Times New Roman"/>
              <a:ea typeface="Times New Roman"/>
              <a:cs typeface="Times New Roman"/>
              <a:sym typeface="Times New Roman"/>
            </a:endParaRPr>
          </a:p>
          <a:p>
            <a:pPr algn="just" indent="-368300" lvl="0" marL="419100" marR="0" rtl="0">
              <a:lnSpc>
                <a:spcPct val="150000"/>
              </a:lnSpc>
              <a:spcBef>
                <a:spcPts val="120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Common datasets: PIMA Indian Diabetes Dataset, sample sizes range from hundreds to a few thousand records.</a:t>
            </a:r>
            <a:endParaRPr b="0" cap="none" sz="2400" i="0" strike="noStrike" u="none">
              <a:solidFill>
                <a:schemeClr val="dk1"/>
              </a:solidFill>
              <a:latin typeface="Times New Roman"/>
              <a:ea typeface="Times New Roman"/>
              <a:cs typeface="Times New Roman"/>
              <a:sym typeface="Times New Roman"/>
            </a:endParaRPr>
          </a:p>
          <a:p>
            <a:pPr algn="just" indent="-368300" lvl="0" marL="419100" marR="0" rtl="0">
              <a:lnSpc>
                <a:spcPct val="150000"/>
              </a:lnSpc>
              <a:spcBef>
                <a:spcPts val="120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Popular algorithms: Deep Neural Networks (DNN), CNN, LSTM, hybrid deep learning models, and ensemble deep learning approaches.</a:t>
            </a:r>
            <a:endParaRPr b="0" cap="none" sz="2400" i="0" strike="noStrike" u="none">
              <a:solidFill>
                <a:schemeClr val="dk1"/>
              </a:solidFill>
              <a:latin typeface="Times New Roman"/>
              <a:ea typeface="Times New Roman"/>
              <a:cs typeface="Times New Roman"/>
              <a:sym typeface="Times New Roman"/>
            </a:endParaRPr>
          </a:p>
        </p:txBody>
      </p:sp>
      <p:sp>
        <p:nvSpPr>
          <p:cNvPr id="1048634" name="Google Shape;141;p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7</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9" name="Shape 146"/>
        <p:cNvGrpSpPr/>
        <p:nvPr/>
      </p:nvGrpSpPr>
      <p:grpSpPr>
        <a:xfrm>
          <a:off x="0" y="0"/>
          <a:ext cx="0" cy="0"/>
          <a:chOff x="0" y="0"/>
          <a:chExt cx="0" cy="0"/>
        </a:xfrm>
      </p:grpSpPr>
      <p:sp>
        <p:nvSpPr>
          <p:cNvPr id="1048638" name="Google Shape;147;p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8</a:t>
            </a:fld>
          </a:p>
        </p:txBody>
      </p:sp>
      <p:sp>
        <p:nvSpPr>
          <p:cNvPr id="1048639" name="Google Shape;148;p8"/>
          <p:cNvSpPr txBox="1"/>
          <p:nvPr/>
        </p:nvSpPr>
        <p:spPr>
          <a:xfrm>
            <a:off x="680300" y="575025"/>
            <a:ext cx="9940500" cy="894050"/>
          </a:xfrm>
          <a:prstGeom prst="rect"/>
          <a:noFill/>
          <a:ln>
            <a:noFill/>
          </a:ln>
        </p:spPr>
        <p:txBody>
          <a:bodyPr anchor="t" anchorCtr="0" bIns="91425" lIns="91425" rIns="91425" spcFirstLastPara="1" tIns="91425" wrap="square">
            <a:spAutoFit/>
          </a:bodyPr>
          <a:p>
            <a:pPr algn="just" indent="-368300" lvl="0" marL="419100" marR="0" rtl="0">
              <a:lnSpc>
                <a:spcPct val="100000"/>
              </a:lnSpc>
              <a:spcBef>
                <a:spcPts val="120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Purpose: To accurately predict diabetes and support clinicians in making better and faster diagnostic decisions.</a:t>
            </a:r>
            <a:endParaRPr b="0" cap="none" sz="1400" i="0" strike="noStrike" u="none">
              <a:solidFill>
                <a:srgbClr val="000000"/>
              </a:solidFill>
              <a:latin typeface="Arial"/>
              <a:ea typeface="Arial"/>
              <a:cs typeface="Arial"/>
              <a:sym typeface="Arial"/>
            </a:endParaRPr>
          </a:p>
        </p:txBody>
      </p:sp>
      <p:sp>
        <p:nvSpPr>
          <p:cNvPr id="1048640" name="Google Shape;149;p8"/>
          <p:cNvSpPr txBox="1"/>
          <p:nvPr/>
        </p:nvSpPr>
        <p:spPr>
          <a:xfrm>
            <a:off x="680300" y="1696250"/>
            <a:ext cx="3905700" cy="677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0"/>
              </a:spcBef>
              <a:spcAft>
                <a:spcPts val="0"/>
              </a:spcAft>
              <a:buClr>
                <a:srgbClr val="000000"/>
              </a:buClr>
              <a:buSzPts val="3200"/>
              <a:buFont typeface="Arial"/>
              <a:buNone/>
            </a:pPr>
            <a:r>
              <a:rPr b="1" cap="none" sz="3200" i="0" lang="en-US" strike="noStrike" u="none">
                <a:solidFill>
                  <a:schemeClr val="dk1"/>
                </a:solidFill>
                <a:latin typeface="Times New Roman"/>
                <a:ea typeface="Times New Roman"/>
                <a:cs typeface="Times New Roman"/>
                <a:sym typeface="Times New Roman"/>
              </a:rPr>
              <a:t>Challenges:</a:t>
            </a:r>
            <a:endParaRPr b="1" cap="none" sz="3200" i="0" strike="noStrike" u="none">
              <a:solidFill>
                <a:schemeClr val="dk1"/>
              </a:solidFill>
              <a:latin typeface="Times New Roman"/>
              <a:ea typeface="Times New Roman"/>
              <a:cs typeface="Times New Roman"/>
              <a:sym typeface="Times New Roman"/>
            </a:endParaRPr>
          </a:p>
        </p:txBody>
      </p:sp>
      <p:sp>
        <p:nvSpPr>
          <p:cNvPr id="1048641" name="Google Shape;150;p8"/>
          <p:cNvSpPr txBox="1"/>
          <p:nvPr/>
        </p:nvSpPr>
        <p:spPr>
          <a:xfrm>
            <a:off x="1100500" y="2509375"/>
            <a:ext cx="9294600" cy="2773650"/>
          </a:xfrm>
          <a:prstGeom prst="rect"/>
          <a:noFill/>
          <a:ln>
            <a:noFill/>
          </a:ln>
        </p:spPr>
        <p:txBody>
          <a:bodyPr anchor="t" anchorCtr="0" bIns="91425" lIns="91425" rIns="91425" spcFirstLastPara="1" tIns="91425" wrap="square">
            <a:spAutoFit/>
          </a:bodyPr>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Limited availability of large and diverse clinical datasets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High computational complexity of deep and ensemble models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Risk of overfitting when data size is small</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Difficulty in deploying models in real-time clinical environments</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2" name="Shape 155"/>
        <p:cNvGrpSpPr/>
        <p:nvPr/>
      </p:nvGrpSpPr>
      <p:grpSpPr>
        <a:xfrm>
          <a:off x="0" y="0"/>
          <a:ext cx="0" cy="0"/>
          <a:chOff x="0" y="0"/>
          <a:chExt cx="0" cy="0"/>
        </a:xfrm>
      </p:grpSpPr>
      <p:sp>
        <p:nvSpPr>
          <p:cNvPr id="1048645" name="Google Shape;156;p9"/>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9</a:t>
            </a:fld>
          </a:p>
        </p:txBody>
      </p:sp>
      <p:sp>
        <p:nvSpPr>
          <p:cNvPr id="1048646" name="Google Shape;157;p9"/>
          <p:cNvSpPr txBox="1"/>
          <p:nvPr/>
        </p:nvSpPr>
        <p:spPr>
          <a:xfrm>
            <a:off x="1256450" y="1353875"/>
            <a:ext cx="10252800" cy="3053700"/>
          </a:xfrm>
          <a:prstGeom prst="rect"/>
          <a:noFill/>
          <a:ln>
            <a:noFill/>
          </a:ln>
        </p:spPr>
        <p:txBody>
          <a:bodyPr anchor="t" anchorCtr="0" bIns="91425" lIns="91425" rIns="91425" spcFirstLastPara="1" tIns="91425" wrap="square">
            <a:spAutoFit/>
          </a:bodyPr>
          <a:p>
            <a:pPr algn="just" indent="-285750" lvl="0" marL="285750" marR="0" rtl="0">
              <a:lnSpc>
                <a:spcPct val="100000"/>
              </a:lnSpc>
              <a:spcBef>
                <a:spcPts val="120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Growing use of ensemble deep learning to boost accuracy</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285750" lvl="0" marL="285750" marR="0" rtl="0">
              <a:lnSpc>
                <a:spcPct val="115000"/>
              </a:lnSpc>
              <a:spcBef>
                <a:spcPts val="0"/>
              </a:spcBef>
              <a:spcAft>
                <a:spcPts val="0"/>
              </a:spcAft>
              <a:buClr>
                <a:schemeClr val="dk1"/>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Integration of clinical decision support systems in healthcare</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285750" lvl="0" marL="285750" marR="0" rtl="0">
              <a:lnSpc>
                <a:spcPct val="115000"/>
              </a:lnSpc>
              <a:spcBef>
                <a:spcPts val="0"/>
              </a:spcBef>
              <a:spcAft>
                <a:spcPts val="0"/>
              </a:spcAft>
              <a:buClr>
                <a:schemeClr val="dk1"/>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Shift towards data-driven and automated diagnosis</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285750" lvl="0" marL="285750" marR="0" rtl="0">
              <a:lnSpc>
                <a:spcPct val="115000"/>
              </a:lnSpc>
              <a:spcBef>
                <a:spcPts val="0"/>
              </a:spcBef>
              <a:spcAft>
                <a:spcPts val="0"/>
              </a:spcAft>
              <a:buClr>
                <a:schemeClr val="dk1"/>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Focus on making models more robust and clinically applicable.</a:t>
            </a:r>
            <a:endParaRPr b="0" cap="none" sz="2800" i="0" strike="noStrike" u="none">
              <a:solidFill>
                <a:schemeClr val="dk1"/>
              </a:solidFill>
              <a:latin typeface="Calibri"/>
              <a:ea typeface="Calibri"/>
              <a:cs typeface="Calibri"/>
              <a:sym typeface="Calibri"/>
            </a:endParaRPr>
          </a:p>
        </p:txBody>
      </p:sp>
      <p:sp>
        <p:nvSpPr>
          <p:cNvPr id="1048647" name="Google Shape;158;p9"/>
          <p:cNvSpPr txBox="1"/>
          <p:nvPr/>
        </p:nvSpPr>
        <p:spPr>
          <a:xfrm>
            <a:off x="628300" y="676725"/>
            <a:ext cx="4941900" cy="611100"/>
          </a:xfrm>
          <a:prstGeom prst="rect"/>
          <a:noFill/>
          <a:ln>
            <a:noFill/>
          </a:ln>
        </p:spPr>
        <p:txBody>
          <a:bodyPr anchor="t" anchorCtr="0" bIns="91425" lIns="91425" rIns="91425" spcFirstLastPara="1" tIns="91425" wrap="square">
            <a:noAutofit/>
          </a:bodyPr>
          <a:p>
            <a:pPr algn="l" indent="0" lvl="0" marL="0" marR="0" rtl="0">
              <a:lnSpc>
                <a:spcPct val="100000"/>
              </a:lnSpc>
              <a:spcBef>
                <a:spcPts val="0"/>
              </a:spcBef>
              <a:spcAft>
                <a:spcPts val="0"/>
              </a:spcAft>
              <a:buClr>
                <a:srgbClr val="000000"/>
              </a:buClr>
              <a:buSzPts val="3200"/>
              <a:buFont typeface="Arial"/>
              <a:buNone/>
            </a:pPr>
            <a:r>
              <a:rPr b="1" cap="none" sz="3200" i="0" lang="en-US" strike="noStrike" u="none">
                <a:solidFill>
                  <a:schemeClr val="dk1"/>
                </a:solidFill>
                <a:latin typeface="Times New Roman"/>
                <a:ea typeface="Times New Roman"/>
                <a:cs typeface="Times New Roman"/>
                <a:sym typeface="Times New Roman"/>
              </a:rPr>
              <a:t>Trends:</a:t>
            </a:r>
            <a:endParaRPr b="1" cap="none" sz="32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5" name="Shape 163"/>
        <p:cNvGrpSpPr/>
        <p:nvPr/>
      </p:nvGrpSpPr>
      <p:grpSpPr>
        <a:xfrm>
          <a:off x="0" y="0"/>
          <a:ext cx="0" cy="0"/>
          <a:chOff x="0" y="0"/>
          <a:chExt cx="0" cy="0"/>
        </a:xfrm>
      </p:grpSpPr>
      <p:sp>
        <p:nvSpPr>
          <p:cNvPr id="1048651" name="Google Shape;164;g3c6e02d04ef_0_94"/>
          <p:cNvSpPr txBox="1"/>
          <p:nvPr>
            <p:ph type="title"/>
          </p:nvPr>
        </p:nvSpPr>
        <p:spPr>
          <a:xfrm>
            <a:off x="692975" y="243200"/>
            <a:ext cx="10515600" cy="1325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DATA FLOW DIAGRAM</a:t>
            </a:r>
            <a:endParaRPr b="1" sz="3200">
              <a:latin typeface="Times New Roman"/>
              <a:ea typeface="Times New Roman"/>
              <a:cs typeface="Times New Roman"/>
              <a:sym typeface="Times New Roman"/>
            </a:endParaRPr>
          </a:p>
        </p:txBody>
      </p:sp>
      <p:sp>
        <p:nvSpPr>
          <p:cNvPr id="1048652" name="Google Shape;165;g3c6e02d04ef_0_94"/>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10</a:t>
            </a:fld>
          </a:p>
        </p:txBody>
      </p:sp>
      <p:pic>
        <p:nvPicPr>
          <p:cNvPr id="2097153" name="Google Shape;166;g3c6e02d04ef_0_94"/>
          <p:cNvPicPr preferRelativeResize="0">
            <a:picLocks/>
          </p:cNvPicPr>
          <p:nvPr/>
        </p:nvPicPr>
        <p:blipFill rotWithShape="1">
          <a:blip xmlns:r="http://schemas.openxmlformats.org/officeDocument/2006/relationships" r:embed="rId1">
            <a:alphaModFix/>
          </a:blip>
          <a:srcRect l="0" t="0" r="0" b="0"/>
          <a:stretch>
            <a:fillRect/>
          </a:stretch>
        </p:blipFill>
        <p:spPr>
          <a:xfrm>
            <a:off x="1006500" y="1303025"/>
            <a:ext cx="10515600" cy="4937900"/>
          </a:xfrm>
          <a:prstGeom prst="rect"/>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9" name="Shape 171"/>
        <p:cNvGrpSpPr/>
        <p:nvPr/>
      </p:nvGrpSpPr>
      <p:grpSpPr>
        <a:xfrm>
          <a:off x="0" y="0"/>
          <a:ext cx="0" cy="0"/>
          <a:chOff x="0" y="0"/>
          <a:chExt cx="0" cy="0"/>
        </a:xfrm>
      </p:grpSpPr>
      <p:sp>
        <p:nvSpPr>
          <p:cNvPr id="1048659" name="Google Shape;172;p11"/>
          <p:cNvSpPr txBox="1"/>
          <p:nvPr/>
        </p:nvSpPr>
        <p:spPr>
          <a:xfrm>
            <a:off x="648675" y="276950"/>
            <a:ext cx="9873000" cy="693900"/>
          </a:xfrm>
          <a:prstGeom prst="rect"/>
          <a:noFill/>
          <a:ln>
            <a:noFill/>
          </a:ln>
        </p:spPr>
        <p:txBody>
          <a:bodyPr anchor="t" anchorCtr="0" bIns="45700" lIns="91425" rIns="91425" spcFirstLastPara="1" tIns="45700" wrap="square">
            <a:noAutofit/>
          </a:bodyPr>
          <a:p>
            <a:pPr algn="l" indent="0" lvl="0" marL="0" marR="0" rtl="0">
              <a:lnSpc>
                <a:spcPct val="100000"/>
              </a:lnSpc>
              <a:spcBef>
                <a:spcPts val="0"/>
              </a:spcBef>
              <a:spcAft>
                <a:spcPts val="0"/>
              </a:spcAft>
              <a:buClr>
                <a:srgbClr val="000000"/>
              </a:buClr>
              <a:buSzPts val="3200"/>
              <a:buFont typeface="Arial"/>
              <a:buNone/>
            </a:pPr>
            <a:r>
              <a:rPr b="1" cap="none" sz="3200" i="0" lang="en-US" strike="noStrike" u="none">
                <a:solidFill>
                  <a:srgbClr val="000000"/>
                </a:solidFill>
                <a:latin typeface="Times New Roman"/>
                <a:ea typeface="Times New Roman"/>
                <a:cs typeface="Times New Roman"/>
                <a:sym typeface="Times New Roman"/>
              </a:rPr>
              <a:t>RESEARCH</a:t>
            </a:r>
            <a:r>
              <a:rPr b="1" cap="none" sz="4400" i="0" lang="en-US" strike="noStrike" u="none">
                <a:solidFill>
                  <a:srgbClr val="000000"/>
                </a:solidFill>
                <a:latin typeface="Times New Roman"/>
                <a:ea typeface="Times New Roman"/>
                <a:cs typeface="Times New Roman"/>
                <a:sym typeface="Times New Roman"/>
              </a:rPr>
              <a:t> </a:t>
            </a:r>
            <a:r>
              <a:rPr b="1" cap="none" sz="3200" i="0" lang="en-US" strike="noStrike" u="none">
                <a:solidFill>
                  <a:srgbClr val="000000"/>
                </a:solidFill>
                <a:latin typeface="Times New Roman"/>
                <a:ea typeface="Times New Roman"/>
                <a:cs typeface="Times New Roman"/>
                <a:sym typeface="Times New Roman"/>
              </a:rPr>
              <a:t>GAP - METHODOLOGY GAP</a:t>
            </a:r>
            <a:endParaRPr b="0" cap="none" sz="3200" i="0" strike="noStrike" u="none">
              <a:solidFill>
                <a:srgbClr val="000000"/>
              </a:solidFill>
              <a:latin typeface="Times New Roman"/>
              <a:ea typeface="Times New Roman"/>
              <a:cs typeface="Times New Roman"/>
              <a:sym typeface="Times New Roman"/>
            </a:endParaRPr>
          </a:p>
        </p:txBody>
      </p:sp>
      <p:sp>
        <p:nvSpPr>
          <p:cNvPr id="1048660" name="Google Shape;173;p11"/>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11</a:t>
            </a:fld>
          </a:p>
        </p:txBody>
      </p:sp>
      <p:sp>
        <p:nvSpPr>
          <p:cNvPr id="1048661" name="Google Shape;174;p11"/>
          <p:cNvSpPr txBox="1"/>
          <p:nvPr/>
        </p:nvSpPr>
        <p:spPr>
          <a:xfrm>
            <a:off x="745500" y="1174675"/>
            <a:ext cx="11106600" cy="5431500"/>
          </a:xfrm>
          <a:prstGeom prst="rect"/>
          <a:noFill/>
          <a:ln>
            <a:noFill/>
          </a:ln>
        </p:spPr>
        <p:txBody>
          <a:bodyPr anchor="t" anchorCtr="0" bIns="91425" lIns="91425" rIns="91425" spcFirstLastPara="1" tIns="91425" wrap="square">
            <a:noAutofit/>
          </a:bodyPr>
          <a:p>
            <a:pPr algn="just" indent="0" lvl="0" marL="0" marR="0" rtl="0">
              <a:lnSpc>
                <a:spcPct val="100000"/>
              </a:lnSpc>
              <a:spcBef>
                <a:spcPts val="0"/>
              </a:spcBef>
              <a:spcAft>
                <a:spcPts val="0"/>
              </a:spcAft>
              <a:buClr>
                <a:schemeClr val="dk1"/>
              </a:buClr>
              <a:buSzPts val="1100"/>
              <a:buFont typeface="Arial"/>
              <a:buNone/>
            </a:pPr>
            <a:r>
              <a:rPr b="0" cap="none" sz="2400" i="0" lang="en-US" strike="noStrike" u="none">
                <a:solidFill>
                  <a:schemeClr val="dk1"/>
                </a:solidFill>
                <a:latin typeface="Times New Roman"/>
                <a:ea typeface="Times New Roman"/>
                <a:cs typeface="Times New Roman"/>
                <a:sym typeface="Times New Roman"/>
              </a:rPr>
              <a:t>Many existing diabetes prediction systems use single deep learning models, which often fail to capture complex patterns present in clinical data.</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chemeClr val="dk1"/>
              </a:buClr>
              <a:buSzPts val="1100"/>
              <a:buFont typeface="Arial"/>
              <a:buNone/>
            </a:pPr>
            <a:r>
              <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chemeClr val="dk1"/>
              </a:buClr>
              <a:buSzPts val="1100"/>
              <a:buFont typeface="Arial"/>
              <a:buNone/>
            </a:pPr>
            <a:r>
              <a:rPr b="1" cap="none" sz="2400" i="0" lang="en-US" strike="noStrike" u="none">
                <a:solidFill>
                  <a:schemeClr val="dk1"/>
                </a:solidFill>
                <a:latin typeface="Times New Roman"/>
                <a:ea typeface="Times New Roman"/>
                <a:cs typeface="Times New Roman"/>
                <a:sym typeface="Times New Roman"/>
              </a:rPr>
              <a:t> Limited prediction reliability:</a:t>
            </a:r>
            <a:endParaRPr b="0" cap="none" sz="1400" i="0" strike="noStrike" u="none">
              <a:solidFill>
                <a:srgbClr val="000000"/>
              </a:solidFill>
              <a:latin typeface="Arial"/>
              <a:ea typeface="Arial"/>
              <a:cs typeface="Arial"/>
              <a:sym typeface="Arial"/>
            </a:endParaRPr>
          </a:p>
          <a:p>
            <a:pPr algn="just" indent="-406400" lvl="0" marL="457200" marR="0" rtl="0">
              <a:lnSpc>
                <a:spcPct val="100000"/>
              </a:lnSpc>
              <a:spcBef>
                <a:spcPts val="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Single models may give unstable results when patient data varies.</a:t>
            </a:r>
            <a:endParaRPr b="0" cap="none" sz="2400" i="0" strike="noStrike" u="none">
              <a:solidFill>
                <a:schemeClr val="dk1"/>
              </a:solidFill>
              <a:latin typeface="Times New Roman"/>
              <a:ea typeface="Times New Roman"/>
              <a:cs typeface="Times New Roman"/>
              <a:sym typeface="Times New Roman"/>
            </a:endParaRPr>
          </a:p>
          <a:p>
            <a:pPr algn="just" indent="-454025" lvl="0" marL="457200" marR="0" rtl="0">
              <a:lnSpc>
                <a:spcPct val="100000"/>
              </a:lnSpc>
              <a:spcBef>
                <a:spcPts val="0"/>
              </a:spcBef>
              <a:spcAft>
                <a:spcPts val="0"/>
              </a:spcAft>
              <a:buClr>
                <a:schemeClr val="dk1"/>
              </a:buClr>
              <a:buSzPts val="28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reduces confidence for doctors when using predictions in real clinical settings.</a:t>
            </a:r>
            <a:endParaRPr b="0" cap="none" sz="2400" i="0" strike="noStrike" u="none">
              <a:solidFill>
                <a:schemeClr val="dk1"/>
              </a:solidFill>
              <a:latin typeface="Times New Roman"/>
              <a:ea typeface="Times New Roman"/>
              <a:cs typeface="Times New Roman"/>
              <a:sym typeface="Times New Roman"/>
            </a:endParaRPr>
          </a:p>
          <a:p>
            <a:pPr algn="just" indent="0" lvl="0" marL="457200" marR="0" rtl="0">
              <a:lnSpc>
                <a:spcPct val="100000"/>
              </a:lnSpc>
              <a:spcBef>
                <a:spcPts val="0"/>
              </a:spcBef>
              <a:spcAft>
                <a:spcPts val="0"/>
              </a:spcAft>
              <a:buClr>
                <a:srgbClr val="000000"/>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Overfitting and generalization issues:</a:t>
            </a:r>
            <a:endParaRPr b="1"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0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Models trained on small or single-source datasets may perform well in testing but poorly in real-world scenarios.</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0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limits their usefulness across different patient populations.</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2" name="Shape 179"/>
        <p:cNvGrpSpPr/>
        <p:nvPr/>
      </p:nvGrpSpPr>
      <p:grpSpPr>
        <a:xfrm>
          <a:off x="0" y="0"/>
          <a:ext cx="0" cy="0"/>
          <a:chOff x="0" y="0"/>
          <a:chExt cx="0" cy="0"/>
        </a:xfrm>
      </p:grpSpPr>
      <p:sp>
        <p:nvSpPr>
          <p:cNvPr id="1048665" name="Google Shape;180;p12"/>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12</a:t>
            </a:fld>
          </a:p>
        </p:txBody>
      </p:sp>
      <p:sp>
        <p:nvSpPr>
          <p:cNvPr id="1048666" name="Google Shape;181;p12"/>
          <p:cNvSpPr txBox="1"/>
          <p:nvPr/>
        </p:nvSpPr>
        <p:spPr>
          <a:xfrm>
            <a:off x="835825" y="433650"/>
            <a:ext cx="10322400" cy="4894800"/>
          </a:xfrm>
          <a:prstGeom prst="rect"/>
          <a:noFill/>
          <a:ln>
            <a:noFill/>
          </a:ln>
        </p:spPr>
        <p:txBody>
          <a:bodyPr anchor="t" anchorCtr="0" bIns="91425" lIns="91425" rIns="91425" spcFirstLastPara="1" tIns="91425" wrap="square">
            <a:spAutoFit/>
          </a:bodyPr>
          <a:p>
            <a:pPr algn="just" indent="0" lvl="0" marL="0" marR="0" rtl="0">
              <a:lnSpc>
                <a:spcPct val="150000"/>
              </a:lnSpc>
              <a:spcBef>
                <a:spcPts val="0"/>
              </a:spcBef>
              <a:spcAft>
                <a:spcPts val="0"/>
              </a:spcAft>
              <a:buClr>
                <a:schemeClr val="dk1"/>
              </a:buClr>
              <a:buSzPts val="1100"/>
              <a:buFont typeface="Arial"/>
              <a:buNone/>
            </a:pPr>
            <a:r>
              <a:rPr b="1" cap="none" sz="2400" i="0" lang="en-US" strike="noStrike" u="none">
                <a:solidFill>
                  <a:schemeClr val="dk1"/>
                </a:solidFill>
                <a:latin typeface="Times New Roman"/>
                <a:ea typeface="Times New Roman"/>
                <a:cs typeface="Times New Roman"/>
                <a:sym typeface="Times New Roman"/>
              </a:rPr>
              <a:t>High model complexity:</a:t>
            </a:r>
            <a:endParaRPr b="0" cap="none" sz="1400" i="0" strike="noStrike" u="none">
              <a:solidFill>
                <a:srgbClr val="000000"/>
              </a:solidFill>
              <a:latin typeface="Arial"/>
              <a:ea typeface="Arial"/>
              <a:cs typeface="Arial"/>
              <a:sym typeface="Arial"/>
            </a:endParaRPr>
          </a:p>
          <a:p>
            <a:pPr algn="just" indent="-428625" lvl="0" marL="457200" marR="0" rtl="0">
              <a:lnSpc>
                <a:spcPct val="150000"/>
              </a:lnSpc>
              <a:spcBef>
                <a:spcPts val="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Deep learning models require high computational power.</a:t>
            </a:r>
            <a:endParaRPr b="0" cap="none" sz="2400" i="0" strike="noStrike" u="none">
              <a:solidFill>
                <a:schemeClr val="dk1"/>
              </a:solidFill>
              <a:latin typeface="Times New Roman"/>
              <a:ea typeface="Times New Roman"/>
              <a:cs typeface="Times New Roman"/>
              <a:sym typeface="Times New Roman"/>
            </a:endParaRPr>
          </a:p>
          <a:p>
            <a:pPr algn="just" indent="-428625" lvl="0" marL="457200" marR="0" rtl="0">
              <a:lnSpc>
                <a:spcPct val="150000"/>
              </a:lnSpc>
              <a:spcBef>
                <a:spcPts val="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makes them difficult to deploy in real-time clinical environments.</a:t>
            </a:r>
            <a:endParaRPr b="0" cap="none" sz="2400" i="0" strike="noStrike" u="none">
              <a:solidFill>
                <a:schemeClr val="dk1"/>
              </a:solidFill>
              <a:latin typeface="Times New Roman"/>
              <a:ea typeface="Times New Roman"/>
              <a:cs typeface="Times New Roman"/>
              <a:sym typeface="Times New Roman"/>
            </a:endParaRPr>
          </a:p>
          <a:p>
            <a:pPr algn="just" indent="0" lvl="0" marL="76200" marR="0" rtl="0">
              <a:lnSpc>
                <a:spcPct val="150000"/>
              </a:lnSpc>
              <a:spcBef>
                <a:spcPts val="120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Integration challenges in healthcare systems:</a:t>
            </a:r>
            <a:endParaRPr b="1" cap="none" sz="2400" i="0" strike="noStrike" u="none">
              <a:solidFill>
                <a:schemeClr val="dk1"/>
              </a:solidFill>
              <a:latin typeface="Times New Roman"/>
              <a:ea typeface="Times New Roman"/>
              <a:cs typeface="Times New Roman"/>
              <a:sym typeface="Times New Roman"/>
            </a:endParaRPr>
          </a:p>
          <a:p>
            <a:pPr algn="l" indent="-330200" lvl="0" marL="457200" marR="0" rtl="0">
              <a:lnSpc>
                <a:spcPct val="15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Many models are developed only for research purposes.</a:t>
            </a:r>
            <a:endParaRPr b="0" cap="none" sz="2400" i="0" strike="noStrike" u="none">
              <a:solidFill>
                <a:schemeClr val="dk1"/>
              </a:solidFill>
              <a:latin typeface="Times New Roman"/>
              <a:ea typeface="Times New Roman"/>
              <a:cs typeface="Times New Roman"/>
              <a:sym typeface="Times New Roman"/>
            </a:endParaRPr>
          </a:p>
          <a:p>
            <a:pPr algn="l" indent="-330200" lvl="0" marL="457200" marR="0" rtl="0">
              <a:lnSpc>
                <a:spcPct val="150000"/>
              </a:lnSpc>
              <a:spcBef>
                <a:spcPts val="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 They are not designed to easily integrate into hospital workflows or clinical decision-making processes.</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50000"/>
              </a:lnSpc>
              <a:spcBef>
                <a:spcPts val="1200"/>
              </a:spcBef>
              <a:spcAft>
                <a:spcPts val="0"/>
              </a:spcAft>
              <a:buClr>
                <a:srgbClr val="000000"/>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5" name="Shape 186"/>
        <p:cNvGrpSpPr/>
        <p:nvPr/>
      </p:nvGrpSpPr>
      <p:grpSpPr>
        <a:xfrm>
          <a:off x="0" y="0"/>
          <a:ext cx="0" cy="0"/>
          <a:chOff x="0" y="0"/>
          <a:chExt cx="0" cy="0"/>
        </a:xfrm>
      </p:grpSpPr>
      <p:sp>
        <p:nvSpPr>
          <p:cNvPr id="1048670" name="Google Shape;187;p13"/>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13</a:t>
            </a:fld>
          </a:p>
        </p:txBody>
      </p:sp>
      <p:sp>
        <p:nvSpPr>
          <p:cNvPr id="1048671" name="Google Shape;188;p13"/>
          <p:cNvSpPr txBox="1"/>
          <p:nvPr/>
        </p:nvSpPr>
        <p:spPr>
          <a:xfrm>
            <a:off x="410800" y="410800"/>
            <a:ext cx="9777600" cy="677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0"/>
              </a:spcBef>
              <a:spcAft>
                <a:spcPts val="0"/>
              </a:spcAft>
              <a:buClr>
                <a:srgbClr val="000000"/>
              </a:buClr>
              <a:buSzPts val="3200"/>
              <a:buFont typeface="Arial"/>
              <a:buNone/>
            </a:pPr>
            <a:r>
              <a:rPr b="1" cap="none" sz="3200" i="0" lang="en-US" strike="noStrike" u="none">
                <a:solidFill>
                  <a:schemeClr val="dk1"/>
                </a:solidFill>
                <a:latin typeface="Times New Roman"/>
                <a:ea typeface="Times New Roman"/>
                <a:cs typeface="Times New Roman"/>
                <a:sym typeface="Times New Roman"/>
              </a:rPr>
              <a:t>METHODOLOGIES</a:t>
            </a:r>
            <a:endParaRPr b="1" cap="none" sz="3200" i="0" strike="noStrike" u="none">
              <a:solidFill>
                <a:schemeClr val="dk1"/>
              </a:solidFill>
              <a:latin typeface="Times New Roman"/>
              <a:ea typeface="Times New Roman"/>
              <a:cs typeface="Times New Roman"/>
              <a:sym typeface="Times New Roman"/>
            </a:endParaRPr>
          </a:p>
        </p:txBody>
      </p:sp>
      <p:sp>
        <p:nvSpPr>
          <p:cNvPr id="1048672" name="Google Shape;189;p13"/>
          <p:cNvSpPr txBox="1"/>
          <p:nvPr/>
        </p:nvSpPr>
        <p:spPr>
          <a:xfrm>
            <a:off x="1429325" y="2940125"/>
            <a:ext cx="9777600" cy="615600"/>
          </a:xfrm>
          <a:prstGeom prst="rect"/>
          <a:noFill/>
          <a:ln>
            <a:noFill/>
          </a:ln>
        </p:spPr>
        <p:txBody>
          <a:bodyPr anchor="t" anchorCtr="0" bIns="91425" lIns="91425" rIns="91425" spcFirstLastPara="1" tIns="91425" wrap="square">
            <a:spAutoFit/>
          </a:bodyPr>
          <a:p>
            <a:pPr algn="l" indent="0" lvl="0" marL="0" marR="0" rtl="0">
              <a:lnSpc>
                <a:spcPct val="100000"/>
              </a:lnSpc>
              <a:spcBef>
                <a:spcPts val="0"/>
              </a:spcBef>
              <a:spcAft>
                <a:spcPts val="0"/>
              </a:spcAft>
              <a:buClr>
                <a:srgbClr val="000000"/>
              </a:buClr>
              <a:buSzPts val="2800"/>
              <a:buFont typeface="Arial"/>
              <a:buNone/>
            </a:pPr>
            <a:r>
              <a:t/>
            </a:r>
            <a:endParaRPr b="0" cap="none" sz="2800" i="0" strike="noStrike" u="none">
              <a:solidFill>
                <a:schemeClr val="dk1"/>
              </a:solidFill>
              <a:latin typeface="Calibri"/>
              <a:ea typeface="Calibri"/>
              <a:cs typeface="Calibri"/>
              <a:sym typeface="Calibri"/>
            </a:endParaRPr>
          </a:p>
        </p:txBody>
      </p:sp>
      <p:sp>
        <p:nvSpPr>
          <p:cNvPr id="1048673" name="Google Shape;190;p13"/>
          <p:cNvSpPr txBox="1"/>
          <p:nvPr/>
        </p:nvSpPr>
        <p:spPr>
          <a:xfrm>
            <a:off x="1123900" y="1339700"/>
            <a:ext cx="8351400" cy="3879000"/>
          </a:xfrm>
          <a:prstGeom prst="rect"/>
          <a:noFill/>
          <a:ln>
            <a:noFill/>
          </a:ln>
        </p:spPr>
        <p:txBody>
          <a:bodyPr anchor="t" anchorCtr="0" bIns="91425" lIns="91425" rIns="91425" spcFirstLastPara="1" tIns="91425" wrap="square">
            <a:spAutoFit/>
          </a:bodyPr>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Artificial Neural Network (ANN)</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1D Convolutional Neural Network (1D CNN)</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Long Short-Term Memory (LSTM)</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Random Forest</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XGBoost (Extreme Gradient Boosting)</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Voting Classifier</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Stacking Ensemble</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8" name="Shape 195"/>
        <p:cNvGrpSpPr/>
        <p:nvPr/>
      </p:nvGrpSpPr>
      <p:grpSpPr>
        <a:xfrm>
          <a:off x="0" y="0"/>
          <a:ext cx="0" cy="0"/>
          <a:chOff x="0" y="0"/>
          <a:chExt cx="0" cy="0"/>
        </a:xfrm>
      </p:grpSpPr>
      <p:sp>
        <p:nvSpPr>
          <p:cNvPr id="1048677" name="Google Shape;196;p14"/>
          <p:cNvSpPr txBox="1"/>
          <p:nvPr>
            <p:ph type="title"/>
          </p:nvPr>
        </p:nvSpPr>
        <p:spPr>
          <a:xfrm>
            <a:off x="431623" y="387927"/>
            <a:ext cx="10515600" cy="6414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METHODOLOGY</a:t>
            </a:r>
            <a:endParaRPr b="1" sz="3200">
              <a:latin typeface="Times New Roman"/>
              <a:ea typeface="Times New Roman"/>
              <a:cs typeface="Times New Roman"/>
              <a:sym typeface="Times New Roman"/>
            </a:endParaRPr>
          </a:p>
        </p:txBody>
      </p:sp>
      <p:sp>
        <p:nvSpPr>
          <p:cNvPr id="1048678" name="Google Shape;197;p14"/>
          <p:cNvSpPr txBox="1"/>
          <p:nvPr/>
        </p:nvSpPr>
        <p:spPr>
          <a:xfrm>
            <a:off x="1107925" y="1568675"/>
            <a:ext cx="10735500" cy="5302800"/>
          </a:xfrm>
          <a:prstGeom prst="rect"/>
          <a:noFill/>
          <a:ln>
            <a:noFill/>
          </a:ln>
        </p:spPr>
        <p:txBody>
          <a:bodyPr anchor="t" anchorCtr="0" bIns="91425" lIns="91425" rIns="91425" spcFirstLastPara="1" tIns="91425" wrap="square">
            <a:spAutoFit/>
          </a:bodyPr>
          <a:p>
            <a:pPr algn="l" indent="-342900" lvl="0" marL="457200" marR="0" rtl="0">
              <a:lnSpc>
                <a:spcPct val="100000"/>
              </a:lnSpc>
              <a:spcBef>
                <a:spcPts val="0"/>
              </a:spcBef>
              <a:spcAft>
                <a:spcPts val="0"/>
              </a:spcAft>
              <a:buClr>
                <a:schemeClr val="dk1"/>
              </a:buClr>
              <a:buSzPts val="1800"/>
              <a:buFont typeface="Times New Roman"/>
              <a:buChar char="●"/>
            </a:pPr>
            <a:r>
              <a:rPr b="0" cap="none" sz="2400" i="0" lang="en-US" strike="noStrike" u="none">
                <a:solidFill>
                  <a:schemeClr val="dk1"/>
                </a:solidFill>
                <a:latin typeface="Times New Roman"/>
                <a:ea typeface="Times New Roman"/>
                <a:cs typeface="Times New Roman"/>
                <a:sym typeface="Times New Roman"/>
              </a:rPr>
              <a:t>ANN is used to analyze clinical diabetes data such as glucose level, BMI, age, and blood pressure.</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342900" lvl="0" marL="457200" marR="0" rtl="0">
              <a:lnSpc>
                <a:spcPct val="100000"/>
              </a:lnSpc>
              <a:spcBef>
                <a:spcPts val="0"/>
              </a:spcBef>
              <a:spcAft>
                <a:spcPts val="0"/>
              </a:spcAft>
              <a:buClr>
                <a:schemeClr val="dk1"/>
              </a:buClr>
              <a:buSzPts val="1800"/>
              <a:buFont typeface="Times New Roman"/>
              <a:buChar char="●"/>
            </a:pPr>
            <a:r>
              <a:rPr b="0" cap="none" sz="2400" i="0" lang="en-US" strike="noStrike" u="none">
                <a:solidFill>
                  <a:schemeClr val="dk1"/>
                </a:solidFill>
                <a:latin typeface="Times New Roman"/>
                <a:ea typeface="Times New Roman"/>
                <a:cs typeface="Times New Roman"/>
                <a:sym typeface="Times New Roman"/>
              </a:rPr>
              <a:t>It learns patterns from patient data to classify diabetic and non-diabetic cases.</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342900" lvl="0" marL="457200" marR="0" rtl="0">
              <a:lnSpc>
                <a:spcPct val="100000"/>
              </a:lnSpc>
              <a:spcBef>
                <a:spcPts val="0"/>
              </a:spcBef>
              <a:spcAft>
                <a:spcPts val="0"/>
              </a:spcAft>
              <a:buClr>
                <a:schemeClr val="dk1"/>
              </a:buClr>
              <a:buSzPts val="1800"/>
              <a:buFont typeface="Times New Roman"/>
              <a:buChar char="●"/>
            </a:pPr>
            <a:r>
              <a:rPr b="0" cap="none" sz="2400" i="0" lang="en-US" strike="noStrike" u="none">
                <a:solidFill>
                  <a:schemeClr val="dk1"/>
                </a:solidFill>
                <a:latin typeface="Times New Roman"/>
                <a:ea typeface="Times New Roman"/>
                <a:cs typeface="Times New Roman"/>
                <a:sym typeface="Times New Roman"/>
              </a:rPr>
              <a:t>ANN can capture complex and non-linear relationships between input features.</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342900" lvl="0" marL="457200" marR="0" rtl="0">
              <a:lnSpc>
                <a:spcPct val="100000"/>
              </a:lnSpc>
              <a:spcBef>
                <a:spcPts val="0"/>
              </a:spcBef>
              <a:spcAft>
                <a:spcPts val="0"/>
              </a:spcAft>
              <a:buClr>
                <a:schemeClr val="dk1"/>
              </a:buClr>
              <a:buSzPts val="1800"/>
              <a:buFont typeface="Times New Roman"/>
              <a:buChar char="●"/>
            </a:pPr>
            <a:r>
              <a:rPr b="0" cap="none" sz="2400" i="0" lang="en-US" strike="noStrike" u="none">
                <a:solidFill>
                  <a:schemeClr val="dk1"/>
                </a:solidFill>
                <a:latin typeface="Times New Roman"/>
                <a:ea typeface="Times New Roman"/>
                <a:cs typeface="Times New Roman"/>
                <a:sym typeface="Times New Roman"/>
              </a:rPr>
              <a:t>It acts as a base model in the proposed clinical decision support framework.</a:t>
            </a:r>
            <a:br>
              <a:rPr b="0" cap="none" sz="2400" i="0" lang="en-US" strike="noStrike" u="none">
                <a:solidFill>
                  <a:schemeClr val="dk1"/>
                </a:solidFill>
                <a:latin typeface="Times New Roman"/>
                <a:ea typeface="Times New Roman"/>
                <a:cs typeface="Times New Roman"/>
                <a:sym typeface="Times New Roman"/>
              </a:rPr>
            </a:br>
            <a:endParaRPr b="0" cap="none" sz="2400" i="0" strike="noStrike" u="none">
              <a:solidFill>
                <a:schemeClr val="dk1"/>
              </a:solidFill>
              <a:latin typeface="Times New Roman"/>
              <a:ea typeface="Times New Roman"/>
              <a:cs typeface="Times New Roman"/>
              <a:sym typeface="Times New Roman"/>
            </a:endParaRPr>
          </a:p>
          <a:p>
            <a:pPr algn="l" indent="-342900" lvl="0" marL="457200" marR="0" rtl="0">
              <a:lnSpc>
                <a:spcPct val="100000"/>
              </a:lnSpc>
              <a:spcBef>
                <a:spcPts val="0"/>
              </a:spcBef>
              <a:spcAft>
                <a:spcPts val="0"/>
              </a:spcAft>
              <a:buClr>
                <a:schemeClr val="dk1"/>
              </a:buClr>
              <a:buSzPts val="1800"/>
              <a:buFont typeface="Times New Roman"/>
              <a:buChar char="●"/>
            </a:pPr>
            <a:r>
              <a:rPr b="0" cap="none" sz="2400" i="0" lang="en-US" strike="noStrike" u="none">
                <a:solidFill>
                  <a:schemeClr val="dk1"/>
                </a:solidFill>
                <a:latin typeface="Times New Roman"/>
                <a:ea typeface="Times New Roman"/>
                <a:cs typeface="Times New Roman"/>
                <a:sym typeface="Times New Roman"/>
              </a:rPr>
              <a:t>The ANN output is later combined with other models in the ensemble to improve prediction accuracy.</a:t>
            </a:r>
            <a:endParaRPr b="1" cap="none" sz="2400" i="0" strike="noStrike" u="none">
              <a:solidFill>
                <a:schemeClr val="dk1"/>
              </a:solidFill>
              <a:latin typeface="Times New Roman"/>
              <a:ea typeface="Times New Roman"/>
              <a:cs typeface="Times New Roman"/>
              <a:sym typeface="Times New Roman"/>
            </a:endParaRPr>
          </a:p>
        </p:txBody>
      </p:sp>
      <p:sp>
        <p:nvSpPr>
          <p:cNvPr id="1048679" name="Google Shape;198;p1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14</a:t>
            </a:fld>
          </a:p>
        </p:txBody>
      </p:sp>
      <p:sp>
        <p:nvSpPr>
          <p:cNvPr id="1048680" name="Google Shape;199;p14"/>
          <p:cNvSpPr txBox="1"/>
          <p:nvPr/>
        </p:nvSpPr>
        <p:spPr>
          <a:xfrm>
            <a:off x="893443" y="1029325"/>
            <a:ext cx="8351400" cy="550200"/>
          </a:xfrm>
          <a:prstGeom prst="rect"/>
          <a:noFill/>
          <a:ln>
            <a:noFill/>
          </a:ln>
        </p:spPr>
        <p:txBody>
          <a:bodyPr anchor="t" anchorCtr="0" bIns="91425" lIns="91425" rIns="91425" spcFirstLastPara="1" tIns="91425" wrap="square">
            <a:spAutoFit/>
          </a:bodyPr>
          <a:p>
            <a:pPr algn="just"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1.Artificial Neural Network (ANN)</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11" name="Shape 204"/>
        <p:cNvGrpSpPr/>
        <p:nvPr/>
      </p:nvGrpSpPr>
      <p:grpSpPr>
        <a:xfrm>
          <a:off x="0" y="0"/>
          <a:ext cx="0" cy="0"/>
          <a:chOff x="0" y="0"/>
          <a:chExt cx="0" cy="0"/>
        </a:xfrm>
      </p:grpSpPr>
      <p:sp>
        <p:nvSpPr>
          <p:cNvPr id="1048684" name="Google Shape;205;g3cfc572c2db_0_0"/>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15</a:t>
            </a:fld>
          </a:p>
        </p:txBody>
      </p:sp>
      <p:pic>
        <p:nvPicPr>
          <p:cNvPr id="2097154" name="Google Shape;206;g3cfc572c2db_0_0" title="ANN.png"/>
          <p:cNvPicPr preferRelativeResize="0">
            <a:picLocks/>
          </p:cNvPicPr>
          <p:nvPr/>
        </p:nvPicPr>
        <p:blipFill rotWithShape="1">
          <a:blip xmlns:r="http://schemas.openxmlformats.org/officeDocument/2006/relationships" r:embed="rId1">
            <a:alphaModFix/>
          </a:blip>
          <a:srcRect l="-679" t="0" r="-669" b="0"/>
          <a:stretch>
            <a:fillRect/>
          </a:stretch>
        </p:blipFill>
        <p:spPr>
          <a:xfrm>
            <a:off x="1351875" y="907625"/>
            <a:ext cx="9488250" cy="4010025"/>
          </a:xfrm>
          <a:prstGeom prst="rect"/>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4" name="Shape 211"/>
        <p:cNvGrpSpPr/>
        <p:nvPr/>
      </p:nvGrpSpPr>
      <p:grpSpPr>
        <a:xfrm>
          <a:off x="0" y="0"/>
          <a:ext cx="0" cy="0"/>
          <a:chOff x="0" y="0"/>
          <a:chExt cx="0" cy="0"/>
        </a:xfrm>
      </p:grpSpPr>
      <p:sp>
        <p:nvSpPr>
          <p:cNvPr id="1048688" name="Google Shape;212;p1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16</a:t>
            </a:fld>
          </a:p>
        </p:txBody>
      </p:sp>
      <p:sp>
        <p:nvSpPr>
          <p:cNvPr id="1048689" name="Google Shape;213;p17"/>
          <p:cNvSpPr txBox="1"/>
          <p:nvPr/>
        </p:nvSpPr>
        <p:spPr>
          <a:xfrm>
            <a:off x="878275" y="985100"/>
            <a:ext cx="8144700" cy="615600"/>
          </a:xfrm>
          <a:prstGeom prst="rect"/>
          <a:noFill/>
          <a:ln>
            <a:noFill/>
          </a:ln>
        </p:spPr>
        <p:txBody>
          <a:bodyPr anchor="t" anchorCtr="0" bIns="91425" lIns="91425" rIns="91425" spcFirstLastPara="1" tIns="91425" wrap="square">
            <a:spAutoFit/>
          </a:bodyPr>
          <a:p>
            <a:pPr algn="l" indent="0" lvl="0" marL="0" marR="0" rtl="0">
              <a:lnSpc>
                <a:spcPct val="100000"/>
              </a:lnSpc>
              <a:spcBef>
                <a:spcPts val="0"/>
              </a:spcBef>
              <a:spcAft>
                <a:spcPts val="0"/>
              </a:spcAft>
              <a:buClr>
                <a:srgbClr val="000000"/>
              </a:buClr>
              <a:buSzPts val="2800"/>
              <a:buFont typeface="Arial"/>
              <a:buNone/>
            </a:pPr>
            <a:r>
              <a:t/>
            </a:r>
            <a:endParaRPr b="0" cap="none" sz="2800" i="0" strike="noStrike" u="none">
              <a:solidFill>
                <a:schemeClr val="dk1"/>
              </a:solidFill>
              <a:latin typeface="Calibri"/>
              <a:ea typeface="Calibri"/>
              <a:cs typeface="Calibri"/>
              <a:sym typeface="Calibri"/>
            </a:endParaRPr>
          </a:p>
        </p:txBody>
      </p:sp>
      <p:sp>
        <p:nvSpPr>
          <p:cNvPr id="1048690" name="Google Shape;214;p17"/>
          <p:cNvSpPr txBox="1"/>
          <p:nvPr/>
        </p:nvSpPr>
        <p:spPr>
          <a:xfrm>
            <a:off x="789700" y="904650"/>
            <a:ext cx="10483500" cy="5048700"/>
          </a:xfrm>
          <a:prstGeom prst="rect"/>
          <a:noFill/>
          <a:ln>
            <a:noFill/>
          </a:ln>
        </p:spPr>
        <p:txBody>
          <a:bodyPr anchor="t" anchorCtr="0" bIns="91425" lIns="91425" rIns="91425" spcFirstLastPara="1" tIns="91425" wrap="square">
            <a:spAutoFit/>
          </a:bodyPr>
          <a:p>
            <a:pPr algn="just" indent="-342900" lvl="0" marL="4191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1D CNN is used to automatically extract important features from clinical diabetes data.</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applies convolution operations on one-dimensional input data such as patient health records.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The model helps identify hidden patterns and trends in diabetes-related features.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1D CNN reduces the need for manual feature selection.</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acts as an important deep learning model in the ensemble to improve overall prediction performance.</a:t>
            </a:r>
            <a:endParaRPr b="0" cap="none" sz="2400" i="0" strike="noStrike" u="none">
              <a:solidFill>
                <a:schemeClr val="dk1"/>
              </a:solidFill>
              <a:latin typeface="Times New Roman"/>
              <a:ea typeface="Times New Roman"/>
              <a:cs typeface="Times New Roman"/>
              <a:sym typeface="Times New Roman"/>
            </a:endParaRPr>
          </a:p>
        </p:txBody>
      </p:sp>
      <p:sp>
        <p:nvSpPr>
          <p:cNvPr id="1048691" name="Google Shape;215;p17"/>
          <p:cNvSpPr txBox="1"/>
          <p:nvPr/>
        </p:nvSpPr>
        <p:spPr>
          <a:xfrm>
            <a:off x="332725" y="258795"/>
            <a:ext cx="9235800" cy="554100"/>
          </a:xfrm>
          <a:prstGeom prst="rect"/>
          <a:noFill/>
          <a:ln>
            <a:noFill/>
          </a:ln>
        </p:spPr>
        <p:txBody>
          <a:bodyPr anchor="t" anchorCtr="0" bIns="91425" lIns="91425" rIns="91425" spcFirstLastPara="1" tIns="91425" wrap="square">
            <a:spAutoFit/>
          </a:bodyPr>
          <a:p>
            <a:pPr algn="just" indent="0" lvl="0" marL="0" marR="0" rtl="0">
              <a:lnSpc>
                <a:spcPct val="115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2.1D Convolutional Neural Network (1D CNN)</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7" name="Shape 220"/>
        <p:cNvGrpSpPr/>
        <p:nvPr/>
      </p:nvGrpSpPr>
      <p:grpSpPr>
        <a:xfrm>
          <a:off x="0" y="0"/>
          <a:ext cx="0" cy="0"/>
          <a:chOff x="0" y="0"/>
          <a:chExt cx="0" cy="0"/>
        </a:xfrm>
      </p:grpSpPr>
      <p:sp>
        <p:nvSpPr>
          <p:cNvPr id="1048695" name="Google Shape;221;g3cfc572c2db_0_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17</a:t>
            </a:fld>
          </a:p>
        </p:txBody>
      </p:sp>
      <p:pic>
        <p:nvPicPr>
          <p:cNvPr id="2097155" name="Google Shape;222;g3cfc572c2db_0_7" title="CNN.png"/>
          <p:cNvPicPr preferRelativeResize="0">
            <a:picLocks/>
          </p:cNvPicPr>
          <p:nvPr/>
        </p:nvPicPr>
        <p:blipFill rotWithShape="1">
          <a:blip xmlns:r="http://schemas.openxmlformats.org/officeDocument/2006/relationships" r:embed="rId1">
            <a:alphaModFix/>
          </a:blip>
          <a:srcRect l="0" t="15991" r="0" b="7421"/>
          <a:stretch>
            <a:fillRect/>
          </a:stretch>
        </p:blipFill>
        <p:spPr>
          <a:xfrm>
            <a:off x="1536225" y="1071450"/>
            <a:ext cx="8778226" cy="4760276"/>
          </a:xfrm>
          <a:prstGeom prst="rect"/>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0" name="Shape 227"/>
        <p:cNvGrpSpPr/>
        <p:nvPr/>
      </p:nvGrpSpPr>
      <p:grpSpPr>
        <a:xfrm>
          <a:off x="0" y="0"/>
          <a:ext cx="0" cy="0"/>
          <a:chOff x="0" y="0"/>
          <a:chExt cx="0" cy="0"/>
        </a:xfrm>
      </p:grpSpPr>
      <p:sp>
        <p:nvSpPr>
          <p:cNvPr id="1048699" name="Google Shape;228;p19"/>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18</a:t>
            </a:fld>
          </a:p>
        </p:txBody>
      </p:sp>
      <p:sp>
        <p:nvSpPr>
          <p:cNvPr id="1048700" name="Google Shape;229;p19"/>
          <p:cNvSpPr txBox="1"/>
          <p:nvPr/>
        </p:nvSpPr>
        <p:spPr>
          <a:xfrm>
            <a:off x="571050" y="988075"/>
            <a:ext cx="11049900" cy="4494600"/>
          </a:xfrm>
          <a:prstGeom prst="rect"/>
          <a:noFill/>
          <a:ln>
            <a:noFill/>
          </a:ln>
        </p:spPr>
        <p:txBody>
          <a:bodyPr anchor="t" anchorCtr="0" bIns="91425" lIns="91425" rIns="91425" spcFirstLastPara="1" tIns="91425" wrap="square">
            <a:spAutoFit/>
          </a:bodyPr>
          <a:p>
            <a:pPr algn="just" indent="-342900" lvl="0" marL="4191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LSTM is used to learn patterns from sequential or time-related diabetes data.</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can remember important information over longer periods, unlike basic neural networks.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LSTM helps capture relationships between past and present clinical values.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reduces information loss while processing patient data.</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LSTM acts as a deep learning model in the ensemble to improve prediction accuracy and stability.</a:t>
            </a:r>
            <a:endParaRPr b="0" cap="none" sz="2400" i="0" strike="noStrike" u="none">
              <a:solidFill>
                <a:schemeClr val="dk1"/>
              </a:solidFill>
              <a:latin typeface="Times New Roman"/>
              <a:ea typeface="Times New Roman"/>
              <a:cs typeface="Times New Roman"/>
              <a:sym typeface="Times New Roman"/>
            </a:endParaRPr>
          </a:p>
        </p:txBody>
      </p:sp>
      <p:sp>
        <p:nvSpPr>
          <p:cNvPr id="1048701" name="Google Shape;230;p19"/>
          <p:cNvSpPr txBox="1"/>
          <p:nvPr/>
        </p:nvSpPr>
        <p:spPr>
          <a:xfrm>
            <a:off x="492375" y="308200"/>
            <a:ext cx="6417300" cy="613200"/>
          </a:xfrm>
          <a:prstGeom prst="rect"/>
          <a:noFill/>
          <a:ln>
            <a:noFill/>
          </a:ln>
        </p:spPr>
        <p:txBody>
          <a:bodyPr anchor="t" anchorCtr="0" bIns="91425" lIns="91425" rIns="91425" spcFirstLastPara="1" tIns="91425" wrap="square">
            <a:noAutofit/>
          </a:bodyPr>
          <a:p>
            <a:pPr algn="just" indent="0" lvl="0" marL="0" marR="0" rtl="0">
              <a:lnSpc>
                <a:spcPct val="115000"/>
              </a:lnSpc>
              <a:spcBef>
                <a:spcPts val="1200"/>
              </a:spcBef>
              <a:spcAft>
                <a:spcPts val="1200"/>
              </a:spcAft>
              <a:buClr>
                <a:schemeClr val="dk1"/>
              </a:buClr>
              <a:buSzPts val="1100"/>
              <a:buFont typeface="Arial"/>
              <a:buNone/>
            </a:pPr>
            <a:r>
              <a:rPr b="1" cap="none" sz="2400" i="0" lang="en-US" strike="noStrike" u="none">
                <a:solidFill>
                  <a:schemeClr val="dk1"/>
                </a:solidFill>
                <a:latin typeface="Times New Roman"/>
                <a:ea typeface="Times New Roman"/>
                <a:cs typeface="Times New Roman"/>
                <a:sym typeface="Times New Roman"/>
              </a:rPr>
              <a:t>3. Long Short-Term Memory(LSTM) </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23" name="Shape 235"/>
        <p:cNvGrpSpPr/>
        <p:nvPr/>
      </p:nvGrpSpPr>
      <p:grpSpPr>
        <a:xfrm>
          <a:off x="0" y="0"/>
          <a:ext cx="0" cy="0"/>
          <a:chOff x="0" y="0"/>
          <a:chExt cx="0" cy="0"/>
        </a:xfrm>
      </p:grpSpPr>
      <p:sp>
        <p:nvSpPr>
          <p:cNvPr id="1048705" name="Google Shape;236;g3cfc572c2db_0_2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19</a:t>
            </a:fld>
          </a:p>
        </p:txBody>
      </p:sp>
      <p:pic>
        <p:nvPicPr>
          <p:cNvPr id="2097156" name="Google Shape;237;g3cfc572c2db_0_21" title="LSTM.png"/>
          <p:cNvPicPr preferRelativeResize="0">
            <a:picLocks/>
          </p:cNvPicPr>
          <p:nvPr/>
        </p:nvPicPr>
        <p:blipFill rotWithShape="1">
          <a:blip xmlns:r="http://schemas.openxmlformats.org/officeDocument/2006/relationships" r:embed="rId1">
            <a:alphaModFix/>
          </a:blip>
          <a:srcRect l="0" t="17317" r="0" b="7489"/>
          <a:stretch>
            <a:fillRect/>
          </a:stretch>
        </p:blipFill>
        <p:spPr>
          <a:xfrm>
            <a:off x="1384150" y="990775"/>
            <a:ext cx="9294599" cy="4550500"/>
          </a:xfrm>
          <a:prstGeom prst="rect"/>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26" name="Shape 242"/>
        <p:cNvGrpSpPr/>
        <p:nvPr/>
      </p:nvGrpSpPr>
      <p:grpSpPr>
        <a:xfrm>
          <a:off x="0" y="0"/>
          <a:ext cx="0" cy="0"/>
          <a:chOff x="0" y="0"/>
          <a:chExt cx="0" cy="0"/>
        </a:xfrm>
      </p:grpSpPr>
      <p:sp>
        <p:nvSpPr>
          <p:cNvPr id="1048709" name="Google Shape;243;p22"/>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20</a:t>
            </a:fld>
          </a:p>
        </p:txBody>
      </p:sp>
      <p:sp>
        <p:nvSpPr>
          <p:cNvPr id="1048710" name="Google Shape;244;p22"/>
          <p:cNvSpPr txBox="1"/>
          <p:nvPr/>
        </p:nvSpPr>
        <p:spPr>
          <a:xfrm>
            <a:off x="111875" y="510175"/>
            <a:ext cx="11649300" cy="554100"/>
          </a:xfrm>
          <a:prstGeom prst="rect"/>
          <a:noFill/>
          <a:ln>
            <a:noFill/>
          </a:ln>
        </p:spPr>
        <p:txBody>
          <a:bodyPr anchor="t" anchorCtr="0" bIns="91425" lIns="91425" rIns="91425" spcFirstLastPara="1" tIns="91425" wrap="square">
            <a:spAutoFit/>
          </a:bodyPr>
          <a:p>
            <a:pPr algn="just" indent="0" lvl="0" marL="0" marR="0" rtl="0">
              <a:lnSpc>
                <a:spcPct val="115000"/>
              </a:lnSpc>
              <a:spcBef>
                <a:spcPts val="1200"/>
              </a:spcBef>
              <a:spcAft>
                <a:spcPts val="1200"/>
              </a:spcAft>
              <a:buClr>
                <a:srgbClr val="000000"/>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p:txBody>
      </p:sp>
      <p:sp>
        <p:nvSpPr>
          <p:cNvPr id="1048711" name="Google Shape;245;p22"/>
          <p:cNvSpPr txBox="1"/>
          <p:nvPr/>
        </p:nvSpPr>
        <p:spPr>
          <a:xfrm>
            <a:off x="1006185" y="1064271"/>
            <a:ext cx="10755000" cy="44946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Random Forest is a machine learning model that uses multiple decision trees for prediction.</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reduces overfitting by averaging the results of many trees.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The model handles clinical diabetes data with high accuracy and stability.</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Random Forest works well with both numerical and categorical health features.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serves as an important base model in the ensemble framework to improve overall prediction performance.</a:t>
            </a:r>
            <a:endParaRPr b="0" cap="none" sz="2400" i="0" strike="noStrike" u="none">
              <a:solidFill>
                <a:schemeClr val="dk1"/>
              </a:solidFill>
              <a:latin typeface="Times New Roman"/>
              <a:ea typeface="Times New Roman"/>
              <a:cs typeface="Times New Roman"/>
              <a:sym typeface="Times New Roman"/>
            </a:endParaRPr>
          </a:p>
        </p:txBody>
      </p:sp>
      <p:sp>
        <p:nvSpPr>
          <p:cNvPr id="1048712" name="Google Shape;246;p22"/>
          <p:cNvSpPr txBox="1"/>
          <p:nvPr/>
        </p:nvSpPr>
        <p:spPr>
          <a:xfrm>
            <a:off x="430825" y="381092"/>
            <a:ext cx="8351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4.Random Forest</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9" name="Shape 251"/>
        <p:cNvGrpSpPr/>
        <p:nvPr/>
      </p:nvGrpSpPr>
      <p:grpSpPr>
        <a:xfrm>
          <a:off x="0" y="0"/>
          <a:ext cx="0" cy="0"/>
          <a:chOff x="0" y="0"/>
          <a:chExt cx="0" cy="0"/>
        </a:xfrm>
      </p:grpSpPr>
      <p:sp>
        <p:nvSpPr>
          <p:cNvPr id="1048716" name="Google Shape;252;g3cfc572c2db_0_2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21</a:t>
            </a:fld>
          </a:p>
        </p:txBody>
      </p:sp>
      <p:pic>
        <p:nvPicPr>
          <p:cNvPr id="2097157" name="Google Shape;253;g3cfc572c2db_0_28" title="RANDOM.png"/>
          <p:cNvPicPr preferRelativeResize="0">
            <a:picLocks/>
          </p:cNvPicPr>
          <p:nvPr/>
        </p:nvPicPr>
        <p:blipFill rotWithShape="1">
          <a:blip xmlns:r="http://schemas.openxmlformats.org/officeDocument/2006/relationships" r:embed="rId1">
            <a:alphaModFix/>
          </a:blip>
          <a:srcRect l="620" t="14131" r="-620" b="7884"/>
          <a:stretch>
            <a:fillRect/>
          </a:stretch>
        </p:blipFill>
        <p:spPr>
          <a:xfrm>
            <a:off x="1359950" y="968200"/>
            <a:ext cx="9472100" cy="4598901"/>
          </a:xfrm>
          <a:prstGeom prst="rect"/>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32" name="Shape 258"/>
        <p:cNvGrpSpPr/>
        <p:nvPr/>
      </p:nvGrpSpPr>
      <p:grpSpPr>
        <a:xfrm>
          <a:off x="0" y="0"/>
          <a:ext cx="0" cy="0"/>
          <a:chOff x="0" y="0"/>
          <a:chExt cx="0" cy="0"/>
        </a:xfrm>
      </p:grpSpPr>
      <p:sp>
        <p:nvSpPr>
          <p:cNvPr id="1048720" name="Google Shape;259;p25"/>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22</a:t>
            </a:fld>
          </a:p>
        </p:txBody>
      </p:sp>
      <p:sp>
        <p:nvSpPr>
          <p:cNvPr id="1048721" name="Google Shape;260;p25"/>
          <p:cNvSpPr txBox="1"/>
          <p:nvPr/>
        </p:nvSpPr>
        <p:spPr>
          <a:xfrm>
            <a:off x="913575" y="1148325"/>
            <a:ext cx="11036400" cy="43407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XGBoost is a powerful machine learning algorithm based on boosting techniques.</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It builds models sequentially, where each new model corrects the errors of the previous one.</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XGBoost handles complex diabetes data efficiently and improves prediction accuracy.</a:t>
            </a:r>
            <a:endParaRPr b="0" cap="none" sz="2400" i="0" strike="noStrike" u="none">
              <a:solidFill>
                <a:schemeClr val="dk1"/>
              </a:solidFill>
              <a:latin typeface="Times New Roman"/>
              <a:ea typeface="Times New Roman"/>
              <a:cs typeface="Times New Roman"/>
              <a:sym typeface="Times New Roman"/>
            </a:endParaRPr>
          </a:p>
          <a:p>
            <a:pPr algn="just" indent="-381000" lvl="0" marL="4572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XGBoost acts as a strong base learner in the ensemble framework to enhance overall performance.</a:t>
            </a:r>
            <a:endParaRPr b="0" cap="none" sz="2400" i="0" strike="noStrike" u="none">
              <a:solidFill>
                <a:schemeClr val="dk1"/>
              </a:solidFill>
              <a:latin typeface="Times New Roman"/>
              <a:ea typeface="Times New Roman"/>
              <a:cs typeface="Times New Roman"/>
              <a:sym typeface="Times New Roman"/>
            </a:endParaRPr>
          </a:p>
        </p:txBody>
      </p:sp>
      <p:sp>
        <p:nvSpPr>
          <p:cNvPr id="1048722" name="Google Shape;261;p25"/>
          <p:cNvSpPr txBox="1"/>
          <p:nvPr/>
        </p:nvSpPr>
        <p:spPr>
          <a:xfrm>
            <a:off x="422775" y="440775"/>
            <a:ext cx="8187900" cy="554100"/>
          </a:xfrm>
          <a:prstGeom prst="rect"/>
          <a:noFill/>
          <a:ln>
            <a:noFill/>
          </a:ln>
        </p:spPr>
        <p:txBody>
          <a:bodyPr anchor="t" anchorCtr="0" bIns="91425" lIns="91425" rIns="91425" spcFirstLastPara="1" tIns="91425" wrap="square">
            <a:spAutoFit/>
          </a:bodyPr>
          <a:p>
            <a:pPr algn="just" indent="0" lvl="0" marL="0" marR="0" rtl="0">
              <a:lnSpc>
                <a:spcPct val="115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5.XGBoost (Extreme Gradient Boosting)</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35" name="Shape 266"/>
        <p:cNvGrpSpPr/>
        <p:nvPr/>
      </p:nvGrpSpPr>
      <p:grpSpPr>
        <a:xfrm>
          <a:off x="0" y="0"/>
          <a:ext cx="0" cy="0"/>
          <a:chOff x="0" y="0"/>
          <a:chExt cx="0" cy="0"/>
        </a:xfrm>
      </p:grpSpPr>
      <p:sp>
        <p:nvSpPr>
          <p:cNvPr id="1048726" name="Google Shape;267;g3cfc572c2db_0_4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23</a:t>
            </a:fld>
          </a:p>
        </p:txBody>
      </p:sp>
      <p:pic>
        <p:nvPicPr>
          <p:cNvPr id="2097158" name="Google Shape;268;g3cfc572c2db_0_41" title="XGBOOST.png"/>
          <p:cNvPicPr preferRelativeResize="0">
            <a:picLocks/>
          </p:cNvPicPr>
          <p:nvPr/>
        </p:nvPicPr>
        <p:blipFill rotWithShape="1">
          <a:blip xmlns:r="http://schemas.openxmlformats.org/officeDocument/2006/relationships" r:embed="rId1">
            <a:alphaModFix/>
          </a:blip>
          <a:srcRect l="0" t="22921" r="0" b="9084"/>
          <a:stretch>
            <a:fillRect/>
          </a:stretch>
        </p:blipFill>
        <p:spPr>
          <a:xfrm>
            <a:off x="1165050" y="1281225"/>
            <a:ext cx="9552801" cy="4114801"/>
          </a:xfrm>
          <a:prstGeom prst="rect"/>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38" name="Shape 273"/>
        <p:cNvGrpSpPr/>
        <p:nvPr/>
      </p:nvGrpSpPr>
      <p:grpSpPr>
        <a:xfrm>
          <a:off x="0" y="0"/>
          <a:ext cx="0" cy="0"/>
          <a:chOff x="0" y="0"/>
          <a:chExt cx="0" cy="0"/>
        </a:xfrm>
      </p:grpSpPr>
      <p:sp>
        <p:nvSpPr>
          <p:cNvPr id="1048730" name="Google Shape;274;p28"/>
          <p:cNvSpPr txBox="1"/>
          <p:nvPr>
            <p:ph type="title"/>
          </p:nvPr>
        </p:nvSpPr>
        <p:spPr>
          <a:xfrm>
            <a:off x="675200" y="357625"/>
            <a:ext cx="7073400" cy="6171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2400" lang="en-US">
                <a:latin typeface="Times New Roman"/>
                <a:ea typeface="Times New Roman"/>
                <a:cs typeface="Times New Roman"/>
                <a:sym typeface="Times New Roman"/>
              </a:rPr>
              <a:t>6. Voting Classifier</a:t>
            </a:r>
          </a:p>
        </p:txBody>
      </p:sp>
      <p:sp>
        <p:nvSpPr>
          <p:cNvPr id="1048731" name="Google Shape;275;p2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24</a:t>
            </a:fld>
          </a:p>
        </p:txBody>
      </p:sp>
      <p:sp>
        <p:nvSpPr>
          <p:cNvPr id="1048732" name="Google Shape;276;p28"/>
          <p:cNvSpPr txBox="1"/>
          <p:nvPr/>
        </p:nvSpPr>
        <p:spPr>
          <a:xfrm>
            <a:off x="917225" y="1132275"/>
            <a:ext cx="11004600" cy="3786600"/>
          </a:xfrm>
          <a:prstGeom prst="rect"/>
          <a:noFill/>
          <a:ln>
            <a:noFill/>
          </a:ln>
        </p:spPr>
        <p:txBody>
          <a:bodyPr anchor="t" anchorCtr="0" bIns="91425" lIns="91425" rIns="91425" spcFirstLastPara="1" tIns="91425" wrap="square">
            <a:spAutoFit/>
          </a:bodyPr>
          <a:p>
            <a:pPr algn="just" indent="-330200" lvl="0" marL="457200" marR="0" rtl="0">
              <a:lnSpc>
                <a:spcPct val="15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Voting Classifier combines predictions from multiple models into a single final decision.</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5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It selects the class predicted by the majority of models (hard voting) or by average probabilities (soft voting).</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5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approach reduces the risk of errors from any single models.</a:t>
            </a:r>
            <a:endParaRPr b="0" cap="none" sz="2400" i="0" strike="noStrike" u="none">
              <a:solidFill>
                <a:schemeClr val="dk1"/>
              </a:solidFill>
              <a:latin typeface="Times New Roman"/>
              <a:ea typeface="Times New Roman"/>
              <a:cs typeface="Times New Roman"/>
              <a:sym typeface="Times New Roman"/>
            </a:endParaRPr>
          </a:p>
          <a:p>
            <a:pPr algn="just" indent="-330200" lvl="0" marL="457200" marR="0" rtl="0">
              <a:lnSpc>
                <a:spcPct val="150000"/>
              </a:lnSpc>
              <a:spcBef>
                <a:spcPts val="1200"/>
              </a:spcBef>
              <a:spcAft>
                <a:spcPts val="0"/>
              </a:spcAft>
              <a:buClr>
                <a:schemeClr val="dk1"/>
              </a:buClr>
              <a:buSzPts val="1600"/>
              <a:buFont typeface="Times New Roman"/>
              <a:buChar char="●"/>
            </a:pPr>
            <a:r>
              <a:rPr b="0" cap="none" sz="2400" i="0" lang="en-US" strike="noStrike" u="none">
                <a:solidFill>
                  <a:schemeClr val="dk1"/>
                </a:solidFill>
                <a:latin typeface="Times New Roman"/>
                <a:ea typeface="Times New Roman"/>
                <a:cs typeface="Times New Roman"/>
                <a:sym typeface="Times New Roman"/>
              </a:rPr>
              <a:t>It plays a key role in the ensemble deep learning framework for diabetes prediction.</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41" name="Shape 281"/>
        <p:cNvGrpSpPr/>
        <p:nvPr/>
      </p:nvGrpSpPr>
      <p:grpSpPr>
        <a:xfrm>
          <a:off x="0" y="0"/>
          <a:ext cx="0" cy="0"/>
          <a:chOff x="0" y="0"/>
          <a:chExt cx="0" cy="0"/>
        </a:xfrm>
      </p:grpSpPr>
      <p:sp>
        <p:nvSpPr>
          <p:cNvPr id="1048736" name="Google Shape;282;g3cfc572c2db_0_4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25</a:t>
            </a:fld>
          </a:p>
        </p:txBody>
      </p:sp>
      <p:pic>
        <p:nvPicPr>
          <p:cNvPr id="2097159" name="Google Shape;283;g3cfc572c2db_0_48" title="VOTING.png"/>
          <p:cNvPicPr preferRelativeResize="0">
            <a:picLocks/>
          </p:cNvPicPr>
          <p:nvPr/>
        </p:nvPicPr>
        <p:blipFill rotWithShape="1">
          <a:blip xmlns:r="http://schemas.openxmlformats.org/officeDocument/2006/relationships" r:embed="rId1">
            <a:alphaModFix/>
          </a:blip>
          <a:srcRect l="0" t="12583" r="0" b="7423"/>
          <a:stretch>
            <a:fillRect/>
          </a:stretch>
        </p:blipFill>
        <p:spPr>
          <a:xfrm>
            <a:off x="1343813" y="657475"/>
            <a:ext cx="9504376" cy="5174251"/>
          </a:xfrm>
          <a:prstGeom prst="rect"/>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44" name="Shape 288"/>
        <p:cNvGrpSpPr/>
        <p:nvPr/>
      </p:nvGrpSpPr>
      <p:grpSpPr>
        <a:xfrm>
          <a:off x="0" y="0"/>
          <a:ext cx="0" cy="0"/>
          <a:chOff x="0" y="0"/>
          <a:chExt cx="0" cy="0"/>
        </a:xfrm>
      </p:grpSpPr>
      <p:sp>
        <p:nvSpPr>
          <p:cNvPr id="1048740" name="Google Shape;289;p31"/>
          <p:cNvSpPr txBox="1"/>
          <p:nvPr>
            <p:ph type="title"/>
          </p:nvPr>
        </p:nvSpPr>
        <p:spPr>
          <a:xfrm>
            <a:off x="477350" y="358475"/>
            <a:ext cx="10515600" cy="664500"/>
          </a:xfrm>
          <a:prstGeom prst="rect"/>
          <a:noFill/>
          <a:ln>
            <a:noFill/>
          </a:ln>
        </p:spPr>
        <p:txBody>
          <a:bodyPr anchor="ctr" anchorCtr="0" bIns="45700" lIns="91425" rIns="91425" spcFirstLastPara="1" tIns="45700" wrap="square">
            <a:normAutofit/>
          </a:bodyPr>
          <a:p>
            <a:pPr algn="just" indent="0" lvl="0" marL="0" rtl="0">
              <a:lnSpc>
                <a:spcPct val="150000"/>
              </a:lnSpc>
              <a:spcBef>
                <a:spcPts val="0"/>
              </a:spcBef>
              <a:spcAft>
                <a:spcPts val="0"/>
              </a:spcAft>
              <a:buSzPts val="1800"/>
              <a:buNone/>
            </a:pPr>
            <a:r>
              <a:rPr b="1" sz="2400" lang="en-US">
                <a:latin typeface="Times New Roman"/>
                <a:ea typeface="Times New Roman"/>
                <a:cs typeface="Times New Roman"/>
                <a:sym typeface="Times New Roman"/>
              </a:rPr>
              <a:t>7. Stacking Ensemble</a:t>
            </a:r>
          </a:p>
        </p:txBody>
      </p:sp>
      <p:sp>
        <p:nvSpPr>
          <p:cNvPr id="1048741" name="Google Shape;290;p3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26</a:t>
            </a:fld>
          </a:p>
        </p:txBody>
      </p:sp>
      <p:sp>
        <p:nvSpPr>
          <p:cNvPr id="1048742" name="Google Shape;291;p31"/>
          <p:cNvSpPr txBox="1"/>
          <p:nvPr/>
        </p:nvSpPr>
        <p:spPr>
          <a:xfrm>
            <a:off x="914675" y="1119775"/>
            <a:ext cx="10888800" cy="4433100"/>
          </a:xfrm>
          <a:prstGeom prst="rect"/>
          <a:noFill/>
          <a:ln>
            <a:noFill/>
          </a:ln>
        </p:spPr>
        <p:txBody>
          <a:bodyPr anchor="t" anchorCtr="0" bIns="91425" lIns="91425" rIns="91425" spcFirstLastPara="1" tIns="91425" wrap="square">
            <a:spAutoFit/>
          </a:bodyPr>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Stacking Ensemble combines predictions from multiple base models using a meta-model.</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Base models such as ANN, 1D CNN, LSTM, Random Forest, and XGBoost generate initial predictions.</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A meta-learner learns how to best combine these predictions for final output.</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approach improves overall prediction accuracy and robustness.</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Stacking Ensemble strengthens the clinical decision support system by providing more reliable diabetes predictions.</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47" name="Shape 296"/>
        <p:cNvGrpSpPr/>
        <p:nvPr/>
      </p:nvGrpSpPr>
      <p:grpSpPr>
        <a:xfrm>
          <a:off x="0" y="0"/>
          <a:ext cx="0" cy="0"/>
          <a:chOff x="0" y="0"/>
          <a:chExt cx="0" cy="0"/>
        </a:xfrm>
      </p:grpSpPr>
      <p:sp>
        <p:nvSpPr>
          <p:cNvPr id="1048746" name="Google Shape;297;g3cfc572c2db_0_6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27</a:t>
            </a:fld>
          </a:p>
        </p:txBody>
      </p:sp>
      <p:pic>
        <p:nvPicPr>
          <p:cNvPr id="2097160" name="Google Shape;298;g3cfc572c2db_0_61" title="ENSEMBLE.png"/>
          <p:cNvPicPr preferRelativeResize="0">
            <a:picLocks/>
          </p:cNvPicPr>
          <p:nvPr/>
        </p:nvPicPr>
        <p:blipFill rotWithShape="1">
          <a:blip xmlns:r="http://schemas.openxmlformats.org/officeDocument/2006/relationships" r:embed="rId1">
            <a:alphaModFix/>
          </a:blip>
          <a:srcRect l="0" t="16231" r="0" b="7317"/>
          <a:stretch>
            <a:fillRect/>
          </a:stretch>
        </p:blipFill>
        <p:spPr>
          <a:xfrm>
            <a:off x="1456762" y="942375"/>
            <a:ext cx="9278475" cy="4711850"/>
          </a:xfrm>
          <a:prstGeom prst="rect"/>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50" name="Shape 303"/>
        <p:cNvGrpSpPr/>
        <p:nvPr/>
      </p:nvGrpSpPr>
      <p:grpSpPr>
        <a:xfrm>
          <a:off x="0" y="0"/>
          <a:ext cx="0" cy="0"/>
          <a:chOff x="0" y="0"/>
          <a:chExt cx="0" cy="0"/>
        </a:xfrm>
      </p:grpSpPr>
      <p:sp>
        <p:nvSpPr>
          <p:cNvPr id="1048750" name="Google Shape;304;p34"/>
          <p:cNvSpPr txBox="1"/>
          <p:nvPr>
            <p:ph type="title"/>
          </p:nvPr>
        </p:nvSpPr>
        <p:spPr>
          <a:xfrm>
            <a:off x="352300" y="185597"/>
            <a:ext cx="10515600" cy="9381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EVALUATION METRICS</a:t>
            </a:r>
            <a:endParaRPr b="1" sz="3200">
              <a:latin typeface="Times New Roman"/>
              <a:ea typeface="Times New Roman"/>
              <a:cs typeface="Times New Roman"/>
              <a:sym typeface="Times New Roman"/>
            </a:endParaRPr>
          </a:p>
        </p:txBody>
      </p:sp>
      <p:sp>
        <p:nvSpPr>
          <p:cNvPr id="1048751" name="Google Shape;305;p34"/>
          <p:cNvSpPr txBox="1"/>
          <p:nvPr/>
        </p:nvSpPr>
        <p:spPr>
          <a:xfrm>
            <a:off x="648929" y="1641288"/>
            <a:ext cx="11095450" cy="4916075"/>
          </a:xfrm>
          <a:prstGeom prst="rect"/>
          <a:noFill/>
          <a:ln>
            <a:noFill/>
          </a:ln>
        </p:spPr>
        <p:txBody>
          <a:bodyPr anchor="t" anchorCtr="0" bIns="91425" lIns="91425" rIns="91425" spcFirstLastPara="1" tIns="91425" wrap="square">
            <a:no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Definition: The proportion of correctly classified instances (both positive and negative) out of the total number of cases.</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Formula: Accuracy = (TP+TN) / (TP+TN+FP+FN)</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Use in Diabetes Prediction: Shows the overall correctness of the model in predicting diabetic and non-diabetic patients.</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Limitation: Accuracy can be misleading when the dataset is imbalanced, such as when non-diabetic cases are much more than diabetic cases.</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50000"/>
              </a:lnSpc>
              <a:spcBef>
                <a:spcPts val="1200"/>
              </a:spcBef>
              <a:spcAft>
                <a:spcPts val="0"/>
              </a:spcAft>
              <a:buClr>
                <a:srgbClr val="000000"/>
              </a:buClr>
              <a:buSzPts val="2400"/>
              <a:buFont typeface="Arial"/>
              <a:buNone/>
            </a:pPr>
            <a:r>
              <a:t/>
            </a:r>
            <a:endParaRPr b="1" cap="none" sz="2400" i="0" strike="noStrike" u="none">
              <a:solidFill>
                <a:schemeClr val="dk1"/>
              </a:solidFill>
              <a:latin typeface="Times New Roman"/>
              <a:ea typeface="Times New Roman"/>
              <a:cs typeface="Times New Roman"/>
              <a:sym typeface="Times New Roman"/>
            </a:endParaRPr>
          </a:p>
        </p:txBody>
      </p:sp>
      <p:sp>
        <p:nvSpPr>
          <p:cNvPr id="1048752" name="Google Shape;306;p34"/>
          <p:cNvSpPr txBox="1"/>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28</a:t>
            </a:fld>
          </a:p>
        </p:txBody>
      </p:sp>
      <p:sp>
        <p:nvSpPr>
          <p:cNvPr id="1048753" name="Google Shape;307;p34"/>
          <p:cNvSpPr txBox="1"/>
          <p:nvPr/>
        </p:nvSpPr>
        <p:spPr>
          <a:xfrm>
            <a:off x="742286" y="1087188"/>
            <a:ext cx="8351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1. Accuracy</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53" name="Shape 312"/>
        <p:cNvGrpSpPr/>
        <p:nvPr/>
      </p:nvGrpSpPr>
      <p:grpSpPr>
        <a:xfrm>
          <a:off x="0" y="0"/>
          <a:ext cx="0" cy="0"/>
          <a:chOff x="0" y="0"/>
          <a:chExt cx="0" cy="0"/>
        </a:xfrm>
      </p:grpSpPr>
      <p:sp>
        <p:nvSpPr>
          <p:cNvPr id="1048757" name="Google Shape;313;p35"/>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29</a:t>
            </a:fld>
          </a:p>
        </p:txBody>
      </p:sp>
      <p:sp>
        <p:nvSpPr>
          <p:cNvPr id="1048758" name="Google Shape;314;p35"/>
          <p:cNvSpPr txBox="1"/>
          <p:nvPr/>
        </p:nvSpPr>
        <p:spPr>
          <a:xfrm>
            <a:off x="577250" y="1260900"/>
            <a:ext cx="11356500" cy="37866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Definition: The proportion of positive predictions that are actually correct.</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Formula: Precision = TP / (TP+FP) </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Use in Diabetes Prediction: Precision indicates how many patients predicted as diabetic are actually diabetic, helping reduce false positive diagnoses.</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Example: If the model predicts 100 patients are diabetic, but only 80 patients actually have diabetes, then the precision is 80%.</a:t>
            </a:r>
            <a:endParaRPr b="0" cap="none" sz="2400" i="0" strike="noStrike" u="none">
              <a:solidFill>
                <a:schemeClr val="dk1"/>
              </a:solidFill>
              <a:latin typeface="Times New Roman"/>
              <a:ea typeface="Times New Roman"/>
              <a:cs typeface="Times New Roman"/>
              <a:sym typeface="Times New Roman"/>
            </a:endParaRPr>
          </a:p>
        </p:txBody>
      </p:sp>
      <p:sp>
        <p:nvSpPr>
          <p:cNvPr id="1048759" name="Google Shape;315;p35"/>
          <p:cNvSpPr txBox="1"/>
          <p:nvPr/>
        </p:nvSpPr>
        <p:spPr>
          <a:xfrm>
            <a:off x="577250" y="565086"/>
            <a:ext cx="8351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2. Precision</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56" name="Shape 320"/>
        <p:cNvGrpSpPr/>
        <p:nvPr/>
      </p:nvGrpSpPr>
      <p:grpSpPr>
        <a:xfrm>
          <a:off x="0" y="0"/>
          <a:ext cx="0" cy="0"/>
          <a:chOff x="0" y="0"/>
          <a:chExt cx="0" cy="0"/>
        </a:xfrm>
      </p:grpSpPr>
      <p:sp>
        <p:nvSpPr>
          <p:cNvPr id="1048763" name="Google Shape;321;p36"/>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30</a:t>
            </a:fld>
          </a:p>
        </p:txBody>
      </p:sp>
      <p:sp>
        <p:nvSpPr>
          <p:cNvPr id="1048764" name="Google Shape;322;p36"/>
          <p:cNvSpPr txBox="1"/>
          <p:nvPr/>
        </p:nvSpPr>
        <p:spPr>
          <a:xfrm>
            <a:off x="1734875" y="2668500"/>
            <a:ext cx="9777600" cy="615600"/>
          </a:xfrm>
          <a:prstGeom prst="rect"/>
          <a:noFill/>
          <a:ln>
            <a:noFill/>
          </a:ln>
        </p:spPr>
        <p:txBody>
          <a:bodyPr anchor="t" anchorCtr="0" bIns="91425" lIns="91425" rIns="91425" spcFirstLastPara="1" tIns="91425" wrap="square">
            <a:spAutoFit/>
          </a:bodyPr>
          <a:p>
            <a:pPr algn="l" indent="0" lvl="0" marL="0" marR="0" rtl="0">
              <a:lnSpc>
                <a:spcPct val="100000"/>
              </a:lnSpc>
              <a:spcBef>
                <a:spcPts val="0"/>
              </a:spcBef>
              <a:spcAft>
                <a:spcPts val="0"/>
              </a:spcAft>
              <a:buClr>
                <a:srgbClr val="000000"/>
              </a:buClr>
              <a:buSzPts val="2800"/>
              <a:buFont typeface="Arial"/>
              <a:buNone/>
            </a:pPr>
            <a:r>
              <a:t/>
            </a:r>
            <a:endParaRPr b="0" cap="none" sz="2800" i="0" strike="noStrike" u="none">
              <a:solidFill>
                <a:schemeClr val="dk1"/>
              </a:solidFill>
              <a:latin typeface="Calibri"/>
              <a:ea typeface="Calibri"/>
              <a:cs typeface="Calibri"/>
              <a:sym typeface="Calibri"/>
            </a:endParaRPr>
          </a:p>
        </p:txBody>
      </p:sp>
      <p:sp>
        <p:nvSpPr>
          <p:cNvPr id="1048765" name="Google Shape;323;p36"/>
          <p:cNvSpPr txBox="1"/>
          <p:nvPr/>
        </p:nvSpPr>
        <p:spPr>
          <a:xfrm>
            <a:off x="838200" y="1258657"/>
            <a:ext cx="11084700" cy="43407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Definition: The proportion of actual positive cases that are correctly identified by the model.</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Formula: Recall = TP / (TP+FN) </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Use in Diabetes Prediction: Recall measures how well the model identifies actual diabetic patients and helps reduce missed diabetes cases.</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Example: If there are 100 actual diabetic patients and the model correctly identifies 90 of them, then the recall is 90%.</a:t>
            </a:r>
            <a:endParaRPr b="0" cap="none" sz="2400" i="0" strike="noStrike" u="none">
              <a:solidFill>
                <a:schemeClr val="dk1"/>
              </a:solidFill>
              <a:latin typeface="Times New Roman"/>
              <a:ea typeface="Times New Roman"/>
              <a:cs typeface="Times New Roman"/>
              <a:sym typeface="Times New Roman"/>
            </a:endParaRPr>
          </a:p>
        </p:txBody>
      </p:sp>
      <p:sp>
        <p:nvSpPr>
          <p:cNvPr id="1048766" name="Google Shape;324;p36"/>
          <p:cNvSpPr txBox="1"/>
          <p:nvPr/>
        </p:nvSpPr>
        <p:spPr>
          <a:xfrm>
            <a:off x="466875" y="546925"/>
            <a:ext cx="8351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3. Recall (Sensitivity / True Positive Rate)</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59" name="Shape 329"/>
        <p:cNvGrpSpPr/>
        <p:nvPr/>
      </p:nvGrpSpPr>
      <p:grpSpPr>
        <a:xfrm>
          <a:off x="0" y="0"/>
          <a:ext cx="0" cy="0"/>
          <a:chOff x="0" y="0"/>
          <a:chExt cx="0" cy="0"/>
        </a:xfrm>
      </p:grpSpPr>
      <p:sp>
        <p:nvSpPr>
          <p:cNvPr id="1048770" name="Google Shape;330;p3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31</a:t>
            </a:fld>
          </a:p>
        </p:txBody>
      </p:sp>
      <p:sp>
        <p:nvSpPr>
          <p:cNvPr id="1048771" name="Google Shape;331;p37"/>
          <p:cNvSpPr txBox="1"/>
          <p:nvPr/>
        </p:nvSpPr>
        <p:spPr>
          <a:xfrm>
            <a:off x="801975" y="1131750"/>
            <a:ext cx="11084700" cy="51102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rgbClr val="000000"/>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Definition: The harmonic mean of precision and recall.</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rgbClr val="000000"/>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Formula: F1 = 2×(Precision×Recall / Precision+Recall)</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rgbClr val="000000"/>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Use in Diabetes Prediction: F1-score balances precision and recall, giving a single measure of model performance when both false positives and false negatives matter.</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rgbClr val="000000"/>
              </a:buClr>
              <a:buSzPts val="2400"/>
              <a:buFont typeface="Arial"/>
              <a:buChar char="•"/>
            </a:pPr>
            <a:r>
              <a:rPr b="0" cap="none" sz="2400" i="0" lang="en-US" strike="noStrike" u="none">
                <a:solidFill>
                  <a:schemeClr val="dk1"/>
                </a:solidFill>
                <a:latin typeface="Times New Roman"/>
                <a:ea typeface="Times New Roman"/>
                <a:cs typeface="Times New Roman"/>
                <a:sym typeface="Times New Roman"/>
              </a:rPr>
              <a:t>Example: If a diabetes prediction model has high precision and high recall, the F1-score will also be high, indicating reliable overall performance.</a:t>
            </a:r>
            <a:endParaRPr b="0" cap="none" sz="2400" i="0" strike="noStrike" u="none">
              <a:solidFill>
                <a:schemeClr val="dk1"/>
              </a:solidFill>
              <a:latin typeface="Times New Roman"/>
              <a:ea typeface="Times New Roman"/>
              <a:cs typeface="Times New Roman"/>
              <a:sym typeface="Times New Roman"/>
            </a:endParaRPr>
          </a:p>
        </p:txBody>
      </p:sp>
      <p:sp>
        <p:nvSpPr>
          <p:cNvPr id="1048772" name="Google Shape;332;p37"/>
          <p:cNvSpPr txBox="1"/>
          <p:nvPr/>
        </p:nvSpPr>
        <p:spPr>
          <a:xfrm>
            <a:off x="640600" y="400150"/>
            <a:ext cx="8351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4. F1-Score</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62" name="Shape 337"/>
        <p:cNvGrpSpPr/>
        <p:nvPr/>
      </p:nvGrpSpPr>
      <p:grpSpPr>
        <a:xfrm>
          <a:off x="0" y="0"/>
          <a:ext cx="0" cy="0"/>
          <a:chOff x="0" y="0"/>
          <a:chExt cx="0" cy="0"/>
        </a:xfrm>
      </p:grpSpPr>
      <p:sp>
        <p:nvSpPr>
          <p:cNvPr id="1048776" name="Google Shape;338;p3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32</a:t>
            </a:fld>
          </a:p>
        </p:txBody>
      </p:sp>
      <p:sp>
        <p:nvSpPr>
          <p:cNvPr id="1048777" name="Google Shape;339;p38"/>
          <p:cNvSpPr txBox="1"/>
          <p:nvPr/>
        </p:nvSpPr>
        <p:spPr>
          <a:xfrm>
            <a:off x="644873" y="1100988"/>
            <a:ext cx="10966800" cy="4494600"/>
          </a:xfrm>
          <a:prstGeom prst="rect"/>
          <a:noFill/>
          <a:ln>
            <a:noFill/>
          </a:ln>
        </p:spPr>
        <p:txBody>
          <a:bodyPr anchor="t" anchorCtr="0" bIns="91425" lIns="91425" rIns="91425" spcFirstLastPara="1" tIns="91425" wrap="square">
            <a:spAutoFit/>
          </a:bodyPr>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Definition: Measures a model’s ability to distinguish between classes across all possible classification thresholds.</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Interpretation:</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AUC = 1.0 → Perfect classifier</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AUC = 0.5 → No better than random guessing</a:t>
            </a:r>
            <a:endParaRPr b="0" cap="none" sz="2400" i="0" strike="noStrike" u="none">
              <a:solidFill>
                <a:schemeClr val="dk1"/>
              </a:solidFill>
              <a:latin typeface="Times New Roman"/>
              <a:ea typeface="Times New Roman"/>
              <a:cs typeface="Times New Roman"/>
              <a:sym typeface="Times New Roman"/>
            </a:endParaRPr>
          </a:p>
          <a:p>
            <a:pPr algn="just" indent="-342900" lvl="0" marL="342900" marR="0" rtl="0">
              <a:lnSpc>
                <a:spcPct val="150000"/>
              </a:lnSpc>
              <a:spcBef>
                <a:spcPts val="1200"/>
              </a:spcBef>
              <a:spcAft>
                <a:spcPts val="0"/>
              </a:spcAft>
              <a:buClr>
                <a:schemeClr val="dk1"/>
              </a:buClr>
              <a:buSzPts val="2400"/>
              <a:buFont typeface="Times New Roman"/>
              <a:buChar char="•"/>
            </a:pPr>
            <a:r>
              <a:rPr b="0" cap="none" sz="2400" i="0" lang="en-US" strike="noStrike" u="none">
                <a:solidFill>
                  <a:schemeClr val="dk1"/>
                </a:solidFill>
                <a:latin typeface="Times New Roman"/>
                <a:ea typeface="Times New Roman"/>
                <a:cs typeface="Times New Roman"/>
                <a:sym typeface="Times New Roman"/>
              </a:rPr>
              <a:t>Use in Diabetes Prediction : ROC–AUC measures how well the model distinguishes between diabetic and non-diabetic patients across different classification thresholds.</a:t>
            </a:r>
            <a:endParaRPr b="1" cap="none" sz="2400" i="0" strike="noStrike" u="none">
              <a:solidFill>
                <a:schemeClr val="dk1"/>
              </a:solidFill>
              <a:latin typeface="Times New Roman"/>
              <a:ea typeface="Times New Roman"/>
              <a:cs typeface="Times New Roman"/>
              <a:sym typeface="Times New Roman"/>
            </a:endParaRPr>
          </a:p>
        </p:txBody>
      </p:sp>
      <p:sp>
        <p:nvSpPr>
          <p:cNvPr id="1048778" name="Google Shape;340;p38"/>
          <p:cNvSpPr txBox="1"/>
          <p:nvPr/>
        </p:nvSpPr>
        <p:spPr>
          <a:xfrm>
            <a:off x="612599" y="390242"/>
            <a:ext cx="10178400" cy="554100"/>
          </a:xfrm>
          <a:prstGeom prst="rect"/>
          <a:noFill/>
          <a:ln>
            <a:noFill/>
          </a:ln>
        </p:spPr>
        <p:txBody>
          <a:bodyPr anchor="t" anchorCtr="0" bIns="91425" lIns="91425" rIns="91425" spcFirstLastPara="1" tIns="91425" wrap="square">
            <a:spAutoFit/>
          </a:bodyPr>
          <a:p>
            <a:pPr algn="just" indent="0" lvl="0" marL="0" marR="0" rtl="0">
              <a:lnSpc>
                <a:spcPct val="100000"/>
              </a:lnSpc>
              <a:spcBef>
                <a:spcPts val="1200"/>
              </a:spcBef>
              <a:spcAft>
                <a:spcPts val="120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5. ROC-AUC (Receiver Operating Characteristic – Area Under the Curve)</a:t>
            </a:r>
            <a:endParaRPr b="0" cap="none" sz="2800" i="0" strike="noStrike" u="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65" name="Shape 345"/>
        <p:cNvGrpSpPr/>
        <p:nvPr/>
      </p:nvGrpSpPr>
      <p:grpSpPr>
        <a:xfrm>
          <a:off x="0" y="0"/>
          <a:ext cx="0" cy="0"/>
          <a:chOff x="0" y="0"/>
          <a:chExt cx="0" cy="0"/>
        </a:xfrm>
      </p:grpSpPr>
      <p:sp>
        <p:nvSpPr>
          <p:cNvPr id="1048782" name="Google Shape;346;g3c6e02d04ef_0_81"/>
          <p:cNvSpPr txBox="1"/>
          <p:nvPr>
            <p:ph type="title"/>
          </p:nvPr>
        </p:nvSpPr>
        <p:spPr>
          <a:xfrm>
            <a:off x="838200" y="300575"/>
            <a:ext cx="3602400" cy="6579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2400" lang="en-US">
                <a:latin typeface="Times New Roman"/>
                <a:ea typeface="Times New Roman"/>
                <a:cs typeface="Times New Roman"/>
                <a:sym typeface="Times New Roman"/>
              </a:rPr>
              <a:t>6.  Confusion Matrix</a:t>
            </a:r>
            <a:endParaRPr b="1" sz="2400">
              <a:latin typeface="Times New Roman"/>
              <a:ea typeface="Times New Roman"/>
              <a:cs typeface="Times New Roman"/>
              <a:sym typeface="Times New Roman"/>
            </a:endParaRPr>
          </a:p>
        </p:txBody>
      </p:sp>
      <p:sp>
        <p:nvSpPr>
          <p:cNvPr id="1048783" name="Google Shape;347;g3c6e02d04ef_0_8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33</a:t>
            </a:fld>
          </a:p>
        </p:txBody>
      </p:sp>
      <p:sp>
        <p:nvSpPr>
          <p:cNvPr id="1048784" name="Google Shape;348;g3c6e02d04ef_0_81"/>
          <p:cNvSpPr txBox="1"/>
          <p:nvPr/>
        </p:nvSpPr>
        <p:spPr>
          <a:xfrm>
            <a:off x="838200" y="958475"/>
            <a:ext cx="10993200" cy="5541300"/>
          </a:xfrm>
          <a:prstGeom prst="rect"/>
          <a:noFill/>
          <a:ln>
            <a:noFill/>
          </a:ln>
        </p:spPr>
        <p:txBody>
          <a:bodyPr anchor="t" anchorCtr="0" bIns="91425" lIns="91425" rIns="91425" spcFirstLastPara="1" tIns="91425" wrap="square">
            <a:spAutoFit/>
          </a:bodyPr>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Definition: A table used to evaluate the performance of a classification model by comparing actual values with predicted values.</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Formula: Accuracy = (TP + TN) / (TP + TN + FP + FN)</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Use in Diabetes Prediction: The confusion matrix helps analyze how well the model predicts diabetic and non-diabetic patients by showing correct and incorrect predictions.</a:t>
            </a:r>
            <a:endParaRPr b="0" cap="none" sz="2400" i="0" strike="noStrike" u="none">
              <a:solidFill>
                <a:schemeClr val="dk1"/>
              </a:solidFill>
              <a:latin typeface="Times New Roman"/>
              <a:ea typeface="Times New Roman"/>
              <a:cs typeface="Times New Roman"/>
              <a:sym typeface="Times New Roman"/>
            </a:endParaRPr>
          </a:p>
          <a:p>
            <a:pPr algn="just" indent="-317500" lvl="0" marL="457200" marR="0" rtl="0">
              <a:lnSpc>
                <a:spcPct val="150000"/>
              </a:lnSpc>
              <a:spcBef>
                <a:spcPts val="0"/>
              </a:spcBef>
              <a:spcAft>
                <a:spcPts val="0"/>
              </a:spcAft>
              <a:buClr>
                <a:schemeClr val="dk1"/>
              </a:buClr>
              <a:buSzPts val="1400"/>
              <a:buFont typeface="Times New Roman"/>
              <a:buChar char="●"/>
            </a:pPr>
            <a:r>
              <a:rPr b="0" cap="none" sz="2400" i="0" lang="en-US" strike="noStrike" u="none">
                <a:solidFill>
                  <a:schemeClr val="dk1"/>
                </a:solidFill>
                <a:latin typeface="Times New Roman"/>
                <a:ea typeface="Times New Roman"/>
                <a:cs typeface="Times New Roman"/>
                <a:sym typeface="Times New Roman"/>
              </a:rPr>
              <a:t>Example: If a diabetes prediction model correctly identifies most diabetic patients (True Positives) and healthy patients (True Negatives) while minimizing False Positives and False Negatives, the confusion matrix indicates strong model performance.</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68" name="Shape 353"/>
        <p:cNvGrpSpPr/>
        <p:nvPr/>
      </p:nvGrpSpPr>
      <p:grpSpPr>
        <a:xfrm>
          <a:off x="0" y="0"/>
          <a:ext cx="0" cy="0"/>
          <a:chOff x="0" y="0"/>
          <a:chExt cx="0" cy="0"/>
        </a:xfrm>
      </p:grpSpPr>
      <p:sp>
        <p:nvSpPr>
          <p:cNvPr id="1048788" name="Google Shape;354;g3c5cdc51c6d_0_35"/>
          <p:cNvSpPr txBox="1"/>
          <p:nvPr>
            <p:ph type="title"/>
          </p:nvPr>
        </p:nvSpPr>
        <p:spPr>
          <a:xfrm>
            <a:off x="838200" y="381250"/>
            <a:ext cx="9089100" cy="10128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DATA COLLECTION AND ANALYSIS</a:t>
            </a:r>
            <a:endParaRPr b="1" sz="3200">
              <a:latin typeface="Times New Roman"/>
              <a:ea typeface="Times New Roman"/>
              <a:cs typeface="Times New Roman"/>
              <a:sym typeface="Times New Roman"/>
            </a:endParaRPr>
          </a:p>
        </p:txBody>
      </p:sp>
      <p:sp>
        <p:nvSpPr>
          <p:cNvPr id="1048789" name="Google Shape;355;g3c5cdc51c6d_0_35"/>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34</a:t>
            </a:fld>
          </a:p>
        </p:txBody>
      </p:sp>
      <p:sp>
        <p:nvSpPr>
          <p:cNvPr id="1048790" name="Google Shape;356;g3c5cdc51c6d_0_35"/>
          <p:cNvSpPr txBox="1"/>
          <p:nvPr/>
        </p:nvSpPr>
        <p:spPr>
          <a:xfrm>
            <a:off x="3639975" y="2751900"/>
            <a:ext cx="4544400" cy="7389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3600"/>
              <a:buFont typeface="Arial"/>
              <a:buNone/>
            </a:pPr>
            <a:r>
              <a:rPr b="0" cap="none" sz="3600" i="0" lang="en-US" strike="noStrike" u="sng">
                <a:solidFill>
                  <a:schemeClr val="hlink"/>
                </a:solidFill>
                <a:latin typeface="Times New Roman"/>
                <a:ea typeface="Times New Roman"/>
                <a:cs typeface="Times New Roman"/>
                <a:sym typeface="Times New Roman"/>
                <a:hlinkClick r:id="rId1"/>
              </a:rPr>
              <a:t>Data Collection</a:t>
            </a:r>
            <a:endParaRPr b="0" cap="none" sz="36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71" name="Shape 361"/>
        <p:cNvGrpSpPr/>
        <p:nvPr/>
      </p:nvGrpSpPr>
      <p:grpSpPr>
        <a:xfrm>
          <a:off x="0" y="0"/>
          <a:ext cx="0" cy="0"/>
          <a:chOff x="0" y="0"/>
          <a:chExt cx="0" cy="0"/>
        </a:xfrm>
      </p:grpSpPr>
      <p:sp>
        <p:nvSpPr>
          <p:cNvPr id="1048794" name="Google Shape;362;g3cfc572c2db_0_68"/>
          <p:cNvSpPr txBox="1"/>
          <p:nvPr>
            <p:ph type="title"/>
          </p:nvPr>
        </p:nvSpPr>
        <p:spPr>
          <a:xfrm>
            <a:off x="612300" y="381275"/>
            <a:ext cx="7862700" cy="6903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MODULES</a:t>
            </a:r>
            <a:endParaRPr b="1" sz="3200">
              <a:latin typeface="Times New Roman"/>
              <a:ea typeface="Times New Roman"/>
              <a:cs typeface="Times New Roman"/>
              <a:sym typeface="Times New Roman"/>
            </a:endParaRPr>
          </a:p>
        </p:txBody>
      </p:sp>
      <p:sp>
        <p:nvSpPr>
          <p:cNvPr id="1048795" name="Google Shape;363;g3cfc572c2db_0_68"/>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35</a:t>
            </a:fld>
          </a:p>
        </p:txBody>
      </p:sp>
      <p:sp>
        <p:nvSpPr>
          <p:cNvPr id="1048796" name="Google Shape;364;g3cfc572c2db_0_68"/>
          <p:cNvSpPr txBox="1"/>
          <p:nvPr/>
        </p:nvSpPr>
        <p:spPr>
          <a:xfrm>
            <a:off x="1916700" y="1329650"/>
            <a:ext cx="8358600" cy="3879000"/>
          </a:xfrm>
          <a:prstGeom prst="rect"/>
          <a:noFill/>
          <a:ln>
            <a:noFill/>
          </a:ln>
        </p:spPr>
        <p:txBody>
          <a:bodyPr anchor="t" anchorCtr="0" bIns="91425" lIns="91425" rIns="91425" spcFirstLastPara="1" tIns="91425" wrap="square">
            <a:spAutoFit/>
          </a:bodyPr>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Data Collection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Data Preprocessing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Model Training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Ensemble Model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Prediction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Dashboard &amp; Visualization Module</a:t>
            </a:r>
            <a:endParaRPr b="0" cap="none" sz="2400" i="0" strike="noStrike" u="none">
              <a:solidFill>
                <a:schemeClr val="dk1"/>
              </a:solidFill>
              <a:latin typeface="Times New Roman"/>
              <a:ea typeface="Times New Roman"/>
              <a:cs typeface="Times New Roman"/>
              <a:sym typeface="Times New Roman"/>
            </a:endParaRPr>
          </a:p>
          <a:p>
            <a:pPr algn="l" indent="-381000" lvl="0" marL="457200" marR="0" rtl="0">
              <a:lnSpc>
                <a:spcPct val="150000"/>
              </a:lnSpc>
              <a:spcBef>
                <a:spcPts val="0"/>
              </a:spcBef>
              <a:spcAft>
                <a:spcPts val="0"/>
              </a:spcAft>
              <a:buClr>
                <a:schemeClr val="dk1"/>
              </a:buClr>
              <a:buSzPts val="2400"/>
              <a:buFont typeface="Times New Roman"/>
              <a:buAutoNum type="arabicPeriod"/>
            </a:pPr>
            <a:r>
              <a:rPr b="0" cap="none" sz="2400" i="0" lang="en-US" strike="noStrike" u="none">
                <a:solidFill>
                  <a:schemeClr val="dk1"/>
                </a:solidFill>
                <a:latin typeface="Times New Roman"/>
                <a:ea typeface="Times New Roman"/>
                <a:cs typeface="Times New Roman"/>
                <a:sym typeface="Times New Roman"/>
              </a:rPr>
              <a:t>Firebase Integration</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74" name="Shape 369"/>
        <p:cNvGrpSpPr/>
        <p:nvPr/>
      </p:nvGrpSpPr>
      <p:grpSpPr>
        <a:xfrm>
          <a:off x="0" y="0"/>
          <a:ext cx="0" cy="0"/>
          <a:chOff x="0" y="0"/>
          <a:chExt cx="0" cy="0"/>
        </a:xfrm>
      </p:grpSpPr>
      <p:sp>
        <p:nvSpPr>
          <p:cNvPr id="1048800" name="Google Shape;370;g3cfc572c2db_0_77"/>
          <p:cNvSpPr txBox="1"/>
          <p:nvPr>
            <p:ph type="title"/>
          </p:nvPr>
        </p:nvSpPr>
        <p:spPr>
          <a:xfrm>
            <a:off x="596175" y="332850"/>
            <a:ext cx="10515600" cy="6096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MODULES DESCRIPTION</a:t>
            </a:r>
            <a:endParaRPr b="1" sz="3200">
              <a:latin typeface="Times New Roman"/>
              <a:ea typeface="Times New Roman"/>
              <a:cs typeface="Times New Roman"/>
              <a:sym typeface="Times New Roman"/>
            </a:endParaRPr>
          </a:p>
        </p:txBody>
      </p:sp>
      <p:sp>
        <p:nvSpPr>
          <p:cNvPr id="1048801" name="Google Shape;371;g3cfc572c2db_0_7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36</a:t>
            </a:fld>
          </a:p>
        </p:txBody>
      </p:sp>
      <p:sp>
        <p:nvSpPr>
          <p:cNvPr id="1048802" name="Google Shape;372;g3cfc572c2db_0_77"/>
          <p:cNvSpPr txBox="1"/>
          <p:nvPr/>
        </p:nvSpPr>
        <p:spPr>
          <a:xfrm>
            <a:off x="745500" y="1103725"/>
            <a:ext cx="9294600" cy="677100"/>
          </a:xfrm>
          <a:prstGeom prst="rect"/>
          <a:noFill/>
          <a:ln>
            <a:noFill/>
          </a:ln>
        </p:spPr>
        <p:txBody>
          <a:bodyPr anchor="t" anchorCtr="0" bIns="91425" lIns="91425" rIns="91425" spcFirstLastPara="1" tIns="91425" wrap="square">
            <a:spAutoFit/>
          </a:bodyPr>
          <a:p>
            <a:pPr algn="l" indent="-431800" lvl="0" marL="457200" marR="0" rtl="0">
              <a:lnSpc>
                <a:spcPct val="100000"/>
              </a:lnSpc>
              <a:spcBef>
                <a:spcPts val="0"/>
              </a:spcBef>
              <a:spcAft>
                <a:spcPts val="0"/>
              </a:spcAft>
              <a:buClr>
                <a:schemeClr val="dk1"/>
              </a:buClr>
              <a:buSzPts val="3200"/>
              <a:buFont typeface="Times New Roman"/>
              <a:buAutoNum type="arabicPeriod"/>
            </a:pPr>
            <a:r>
              <a:rPr b="1" cap="none" sz="3200" i="0" lang="en-US" strike="noStrike" u="none">
                <a:solidFill>
                  <a:schemeClr val="dk1"/>
                </a:solidFill>
                <a:latin typeface="Times New Roman"/>
                <a:ea typeface="Times New Roman"/>
                <a:cs typeface="Times New Roman"/>
                <a:sym typeface="Times New Roman"/>
              </a:rPr>
              <a:t>Data Collection Module</a:t>
            </a:r>
            <a:endParaRPr b="1" cap="none" sz="3200" i="0" strike="noStrike" u="none">
              <a:solidFill>
                <a:schemeClr val="dk1"/>
              </a:solidFill>
              <a:latin typeface="Times New Roman"/>
              <a:ea typeface="Times New Roman"/>
              <a:cs typeface="Times New Roman"/>
              <a:sym typeface="Times New Roman"/>
            </a:endParaRPr>
          </a:p>
        </p:txBody>
      </p:sp>
      <p:sp>
        <p:nvSpPr>
          <p:cNvPr id="1048803" name="Google Shape;373;g3cfc572c2db_0_77"/>
          <p:cNvSpPr txBox="1"/>
          <p:nvPr/>
        </p:nvSpPr>
        <p:spPr>
          <a:xfrm>
            <a:off x="1391100" y="1987100"/>
            <a:ext cx="9962700" cy="3324600"/>
          </a:xfrm>
          <a:prstGeom prst="rect"/>
          <a:noFill/>
          <a:ln>
            <a:noFill/>
          </a:ln>
        </p:spPr>
        <p:txBody>
          <a:bodyPr anchor="t" anchorCtr="0" bIns="91425" lIns="91425" rIns="91425" spcFirstLastPara="1" tIns="91425" wrap="square">
            <a:spAutoFit/>
          </a:bodyPr>
          <a:p>
            <a:pPr algn="just" indent="-323850" lvl="0" marL="457200" marR="406101"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In this module, we collect the diabetes dataset containing important patient health parameters such as glucose level, BMI, blood pressure, age, insulin, pregnancies, skin thickness, and diabetes pedigree function.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406101"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We used the PIMA Indian Diabetes Dataset as the data source.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406101"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collected data is then used as the input for training and testing our deep learning and ensemble models to predict diabetes risk.</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77" name="Shape 378"/>
        <p:cNvGrpSpPr/>
        <p:nvPr/>
      </p:nvGrpSpPr>
      <p:grpSpPr>
        <a:xfrm>
          <a:off x="0" y="0"/>
          <a:ext cx="0" cy="0"/>
          <a:chOff x="0" y="0"/>
          <a:chExt cx="0" cy="0"/>
        </a:xfrm>
      </p:grpSpPr>
      <p:sp>
        <p:nvSpPr>
          <p:cNvPr id="1048807" name="Google Shape;379;g3cfc572c2db_0_83"/>
          <p:cNvSpPr txBox="1"/>
          <p:nvPr>
            <p:ph type="title"/>
          </p:nvPr>
        </p:nvSpPr>
        <p:spPr>
          <a:xfrm>
            <a:off x="644575" y="365175"/>
            <a:ext cx="10515600" cy="8355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2. Data Preprocessing Module</a:t>
            </a:r>
            <a:endParaRPr b="1" sz="3200">
              <a:latin typeface="Times New Roman"/>
              <a:ea typeface="Times New Roman"/>
              <a:cs typeface="Times New Roman"/>
              <a:sym typeface="Times New Roman"/>
            </a:endParaRPr>
          </a:p>
        </p:txBody>
      </p:sp>
      <p:sp>
        <p:nvSpPr>
          <p:cNvPr id="1048808" name="Google Shape;380;g3cfc572c2db_0_83"/>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37</a:t>
            </a:fld>
          </a:p>
        </p:txBody>
      </p:sp>
      <p:sp>
        <p:nvSpPr>
          <p:cNvPr id="1048809" name="Google Shape;381;g3cfc572c2db_0_83"/>
          <p:cNvSpPr txBox="1"/>
          <p:nvPr/>
        </p:nvSpPr>
        <p:spPr>
          <a:xfrm>
            <a:off x="1342500" y="1474850"/>
            <a:ext cx="10011300" cy="3879000"/>
          </a:xfrm>
          <a:prstGeom prst="rect"/>
          <a:noFill/>
          <a:ln>
            <a:noFill/>
          </a:ln>
        </p:spPr>
        <p:txBody>
          <a:bodyPr anchor="t" anchorCtr="0" bIns="91425" lIns="91425" rIns="91425" spcFirstLastPara="1" tIns="91425" wrap="square">
            <a:spAutoFit/>
          </a:bodyPr>
          <a:p>
            <a:pPr algn="just" indent="-323850" lvl="0" marL="457200" marR="45451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In this module, the collected diabetes dataset is cleaned and prepared for model training.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45451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Missing or invalid values are handled, unnecessary data is removed, and the features are normalized or scaled.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45451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step ensures that the dataset becomes consistent and suitable for training the deep learning and ensemble models for accurate diabetes prediction.</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80" name="Shape 386"/>
        <p:cNvGrpSpPr/>
        <p:nvPr/>
      </p:nvGrpSpPr>
      <p:grpSpPr>
        <a:xfrm>
          <a:off x="0" y="0"/>
          <a:ext cx="0" cy="0"/>
          <a:chOff x="0" y="0"/>
          <a:chExt cx="0" cy="0"/>
        </a:xfrm>
      </p:grpSpPr>
      <p:sp>
        <p:nvSpPr>
          <p:cNvPr id="1048813" name="Google Shape;387;g3cfc572c2db_0_89"/>
          <p:cNvSpPr txBox="1"/>
          <p:nvPr>
            <p:ph type="title"/>
          </p:nvPr>
        </p:nvSpPr>
        <p:spPr>
          <a:xfrm>
            <a:off x="584150" y="365125"/>
            <a:ext cx="10769700" cy="7869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3. Model Training Module</a:t>
            </a:r>
            <a:endParaRPr b="1" sz="3200">
              <a:latin typeface="Times New Roman"/>
              <a:ea typeface="Times New Roman"/>
              <a:cs typeface="Times New Roman"/>
              <a:sym typeface="Times New Roman"/>
            </a:endParaRPr>
          </a:p>
        </p:txBody>
      </p:sp>
      <p:sp>
        <p:nvSpPr>
          <p:cNvPr id="1048814" name="Google Shape;388;g3cfc572c2db_0_89"/>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38</a:t>
            </a:fld>
          </a:p>
        </p:txBody>
      </p:sp>
      <p:sp>
        <p:nvSpPr>
          <p:cNvPr id="1048815" name="Google Shape;389;g3cfc572c2db_0_89"/>
          <p:cNvSpPr txBox="1"/>
          <p:nvPr/>
        </p:nvSpPr>
        <p:spPr>
          <a:xfrm>
            <a:off x="1343850" y="1426475"/>
            <a:ext cx="9504300" cy="3324600"/>
          </a:xfrm>
          <a:prstGeom prst="rect"/>
          <a:noFill/>
          <a:ln>
            <a:noFill/>
          </a:ln>
        </p:spPr>
        <p:txBody>
          <a:bodyPr anchor="t" anchorCtr="0" bIns="91425" lIns="91425" rIns="91425" spcFirstLastPara="1" tIns="91425" wrap="square">
            <a:spAutoFit/>
          </a:bodyPr>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In this module, the preprocessed dataset is used to train different models such as ANN, CNN, LSTM, Random Forest, and XGBoost.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The models learn patterns from patient health parameters like glucose, BMI, blood pressure, and age.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After training, the models are able to predict whether a person has a risk of diabetes or not.</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83" name="Shape 394"/>
        <p:cNvGrpSpPr/>
        <p:nvPr/>
      </p:nvGrpSpPr>
      <p:grpSpPr>
        <a:xfrm>
          <a:off x="0" y="0"/>
          <a:ext cx="0" cy="0"/>
          <a:chOff x="0" y="0"/>
          <a:chExt cx="0" cy="0"/>
        </a:xfrm>
      </p:grpSpPr>
      <p:sp>
        <p:nvSpPr>
          <p:cNvPr id="1048819" name="Google Shape;395;g3cfc572c2db_0_95"/>
          <p:cNvSpPr txBox="1"/>
          <p:nvPr>
            <p:ph type="title"/>
          </p:nvPr>
        </p:nvSpPr>
        <p:spPr>
          <a:xfrm>
            <a:off x="596150" y="316725"/>
            <a:ext cx="10515600" cy="980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4. Ensemble Model Module</a:t>
            </a:r>
            <a:endParaRPr b="1" sz="3200">
              <a:latin typeface="Times New Roman"/>
              <a:ea typeface="Times New Roman"/>
              <a:cs typeface="Times New Roman"/>
              <a:sym typeface="Times New Roman"/>
            </a:endParaRPr>
          </a:p>
        </p:txBody>
      </p:sp>
      <p:sp>
        <p:nvSpPr>
          <p:cNvPr id="1048820" name="Google Shape;396;g3cfc572c2db_0_95"/>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39</a:t>
            </a:fld>
          </a:p>
        </p:txBody>
      </p:sp>
      <p:sp>
        <p:nvSpPr>
          <p:cNvPr id="1048821" name="Google Shape;397;g3cfc572c2db_0_95"/>
          <p:cNvSpPr txBox="1"/>
          <p:nvPr/>
        </p:nvSpPr>
        <p:spPr>
          <a:xfrm>
            <a:off x="1319550" y="1474850"/>
            <a:ext cx="9552900" cy="3879000"/>
          </a:xfrm>
          <a:prstGeom prst="rect"/>
          <a:noFill/>
          <a:ln>
            <a:noFill/>
          </a:ln>
        </p:spPr>
        <p:txBody>
          <a:bodyPr anchor="t" anchorCtr="0" bIns="91425" lIns="91425" rIns="91425" spcFirstLastPara="1" tIns="91425" wrap="square">
            <a:spAutoFit/>
          </a:bodyPr>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In this module, the predictions from multiple trained models such as ANN, CNN, LSTM, Random Forest, and XGBoost are combined using ensemble techniques like Voting and Stacking.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sz="2400" lang="en-US">
                <a:solidFill>
                  <a:schemeClr val="dk1"/>
                </a:solidFill>
                <a:latin typeface="Times New Roman"/>
                <a:ea typeface="Times New Roman"/>
                <a:cs typeface="Times New Roman"/>
                <a:sym typeface="Times New Roman"/>
              </a:rPr>
              <a:t>In the Voting method, predictions from all models are aggregated, and the final output is determined based on majority voting or averaging.</a:t>
            </a:r>
            <a:endParaRPr sz="2400">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helps improve the overall prediction accuracy, reduce errors, and produce a more reliable final diabetes prediction.</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86" name="Shape 402"/>
        <p:cNvGrpSpPr/>
        <p:nvPr/>
      </p:nvGrpSpPr>
      <p:grpSpPr>
        <a:xfrm>
          <a:off x="0" y="0"/>
          <a:ext cx="0" cy="0"/>
          <a:chOff x="0" y="0"/>
          <a:chExt cx="0" cy="0"/>
        </a:xfrm>
      </p:grpSpPr>
      <p:sp>
        <p:nvSpPr>
          <p:cNvPr id="1048825" name="Google Shape;403;g3cfc572c2db_0_101"/>
          <p:cNvSpPr txBox="1"/>
          <p:nvPr>
            <p:ph type="title"/>
          </p:nvPr>
        </p:nvSpPr>
        <p:spPr>
          <a:xfrm>
            <a:off x="725250" y="397375"/>
            <a:ext cx="10515600" cy="9162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5.Prediction Module</a:t>
            </a:r>
            <a:endParaRPr b="1" sz="3200">
              <a:latin typeface="Times New Roman"/>
              <a:ea typeface="Times New Roman"/>
              <a:cs typeface="Times New Roman"/>
              <a:sym typeface="Times New Roman"/>
            </a:endParaRPr>
          </a:p>
        </p:txBody>
      </p:sp>
      <p:sp>
        <p:nvSpPr>
          <p:cNvPr id="1048826" name="Google Shape;404;g3cfc572c2db_0_101"/>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40</a:t>
            </a:fld>
          </a:p>
        </p:txBody>
      </p:sp>
      <p:sp>
        <p:nvSpPr>
          <p:cNvPr id="1048827" name="Google Shape;405;g3cfc572c2db_0_101"/>
          <p:cNvSpPr txBox="1"/>
          <p:nvPr/>
        </p:nvSpPr>
        <p:spPr>
          <a:xfrm>
            <a:off x="1206600" y="1491000"/>
            <a:ext cx="9778800" cy="2770500"/>
          </a:xfrm>
          <a:prstGeom prst="rect"/>
          <a:noFill/>
          <a:ln>
            <a:noFill/>
          </a:ln>
        </p:spPr>
        <p:txBody>
          <a:bodyPr anchor="t" anchorCtr="0" bIns="91425" lIns="91425" rIns="91425" spcFirstLastPara="1" tIns="91425" wrap="square">
            <a:spAutoFit/>
          </a:bodyPr>
          <a:p>
            <a:pPr algn="just" indent="0" lvl="0" marL="0" marR="74631" rtl="0">
              <a:lnSpc>
                <a:spcPct val="150000"/>
              </a:lnSpc>
              <a:spcBef>
                <a:spcPts val="0"/>
              </a:spcBef>
              <a:spcAft>
                <a:spcPts val="0"/>
              </a:spcAft>
              <a:buClr>
                <a:srgbClr val="000000"/>
              </a:buClr>
              <a:buSzPts val="2400"/>
              <a:buFont typeface="Arial"/>
              <a:buNone/>
            </a:pPr>
            <a:r>
              <a:rPr b="0" cap="none" sz="2400" i="0" lang="en-US" strike="noStrike" u="none">
                <a:solidFill>
                  <a:schemeClr val="dk1"/>
                </a:solidFill>
                <a:latin typeface="Times New Roman"/>
                <a:ea typeface="Times New Roman"/>
                <a:cs typeface="Times New Roman"/>
                <a:sym typeface="Times New Roman"/>
              </a:rPr>
              <a:t>In this module, the trained ensemble model is used to predict diabetes risk. Patient health parameters such as glucose, BMI, blood pressure, age, and insulin are given as input to the system. Based on these inputs, the model analyzes the patterns and predicts whether the person is diabetic or non‑diabetic, providing the final prediction result.</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89" name="Shape 410"/>
        <p:cNvGrpSpPr/>
        <p:nvPr/>
      </p:nvGrpSpPr>
      <p:grpSpPr>
        <a:xfrm>
          <a:off x="0" y="0"/>
          <a:ext cx="0" cy="0"/>
          <a:chOff x="0" y="0"/>
          <a:chExt cx="0" cy="0"/>
        </a:xfrm>
      </p:grpSpPr>
      <p:sp>
        <p:nvSpPr>
          <p:cNvPr id="1048831" name="Google Shape;411;g3cfc572c2db_0_107"/>
          <p:cNvSpPr txBox="1"/>
          <p:nvPr>
            <p:ph type="title"/>
          </p:nvPr>
        </p:nvSpPr>
        <p:spPr>
          <a:xfrm>
            <a:off x="584150" y="365125"/>
            <a:ext cx="10769700" cy="8676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6.Dashboard &amp; Visualization Module</a:t>
            </a:r>
            <a:endParaRPr b="1" sz="3200">
              <a:latin typeface="Times New Roman"/>
              <a:ea typeface="Times New Roman"/>
              <a:cs typeface="Times New Roman"/>
              <a:sym typeface="Times New Roman"/>
            </a:endParaRPr>
          </a:p>
        </p:txBody>
      </p:sp>
      <p:sp>
        <p:nvSpPr>
          <p:cNvPr id="1048832" name="Google Shape;412;g3cfc572c2db_0_10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41</a:t>
            </a:fld>
          </a:p>
        </p:txBody>
      </p:sp>
      <p:sp>
        <p:nvSpPr>
          <p:cNvPr id="1048833" name="Google Shape;413;g3cfc572c2db_0_107"/>
          <p:cNvSpPr txBox="1"/>
          <p:nvPr/>
        </p:nvSpPr>
        <p:spPr>
          <a:xfrm>
            <a:off x="1261800" y="1523325"/>
            <a:ext cx="10092000" cy="3879000"/>
          </a:xfrm>
          <a:prstGeom prst="rect"/>
          <a:noFill/>
          <a:ln>
            <a:noFill/>
          </a:ln>
        </p:spPr>
        <p:txBody>
          <a:bodyPr anchor="t" anchorCtr="0" bIns="91425" lIns="91425" rIns="91425" spcFirstLastPara="1" tIns="91425" wrap="square">
            <a:spAutoFit/>
          </a:bodyPr>
          <a:p>
            <a:pPr algn="just" indent="-323850" lvl="0" marL="457200" marR="196325"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In this module, the prediction results are displayed through a dashboard with visualizations. Charts, graphs, and summary tables are used to clearly show diabetes prediction results and patient data insights.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196325" rtl="0">
              <a:lnSpc>
                <a:spcPct val="150000"/>
              </a:lnSpc>
              <a:spcBef>
                <a:spcPts val="0"/>
              </a:spcBef>
              <a:spcAft>
                <a:spcPts val="0"/>
              </a:spcAft>
              <a:buClr>
                <a:schemeClr val="dk1"/>
              </a:buClr>
              <a:buSzPts val="1500"/>
              <a:buFont typeface="Times New Roman"/>
              <a:buChar char="●"/>
            </a:pPr>
            <a:r>
              <a:rPr sz="2400" lang="en-US">
                <a:solidFill>
                  <a:schemeClr val="dk1"/>
                </a:solidFill>
                <a:latin typeface="Times New Roman"/>
                <a:ea typeface="Times New Roman"/>
                <a:cs typeface="Times New Roman"/>
                <a:sym typeface="Times New Roman"/>
              </a:rPr>
              <a:t>The dashboard presents key metrics such as prediction probability, risk level, and important contributing factors in an organized manner. </a:t>
            </a:r>
            <a:endParaRPr sz="2400">
              <a:solidFill>
                <a:schemeClr val="dk1"/>
              </a:solidFill>
              <a:latin typeface="Times New Roman"/>
              <a:ea typeface="Times New Roman"/>
              <a:cs typeface="Times New Roman"/>
              <a:sym typeface="Times New Roman"/>
            </a:endParaRPr>
          </a:p>
          <a:p>
            <a:pPr algn="just" indent="-323850" lvl="0" marL="457200" marR="196326"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helps users and doctors easily understand the prediction outcomes and analyze the data visually.</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92" name="Shape 418"/>
        <p:cNvGrpSpPr/>
        <p:nvPr/>
      </p:nvGrpSpPr>
      <p:grpSpPr>
        <a:xfrm>
          <a:off x="0" y="0"/>
          <a:ext cx="0" cy="0"/>
          <a:chOff x="0" y="0"/>
          <a:chExt cx="0" cy="0"/>
        </a:xfrm>
      </p:grpSpPr>
      <p:sp>
        <p:nvSpPr>
          <p:cNvPr id="1048837" name="Google Shape;419;g3d0077410f2_0_7"/>
          <p:cNvSpPr txBox="1"/>
          <p:nvPr>
            <p:ph type="title"/>
          </p:nvPr>
        </p:nvSpPr>
        <p:spPr>
          <a:xfrm>
            <a:off x="676825" y="510350"/>
            <a:ext cx="7475400" cy="625800"/>
          </a:xfrm>
          <a:prstGeom prst="rect"/>
          <a:noFill/>
          <a:ln>
            <a:noFill/>
          </a:ln>
        </p:spPr>
        <p:txBody>
          <a:bodyPr anchor="ctr" anchorCtr="0" bIns="45700" lIns="91425" rIns="91425" spcFirstLastPara="1" tIns="45700" wrap="square">
            <a:no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7. Firebase Integration</a:t>
            </a:r>
            <a:endParaRPr b="1" sz="3200">
              <a:latin typeface="Times New Roman"/>
              <a:ea typeface="Times New Roman"/>
              <a:cs typeface="Times New Roman"/>
              <a:sym typeface="Times New Roman"/>
            </a:endParaRPr>
          </a:p>
        </p:txBody>
      </p:sp>
      <p:sp>
        <p:nvSpPr>
          <p:cNvPr id="1048838" name="Google Shape;420;g3d0077410f2_0_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42</a:t>
            </a:fld>
          </a:p>
        </p:txBody>
      </p:sp>
      <p:sp>
        <p:nvSpPr>
          <p:cNvPr id="1048839" name="Google Shape;421;g3d0077410f2_0_7"/>
          <p:cNvSpPr txBox="1"/>
          <p:nvPr/>
        </p:nvSpPr>
        <p:spPr>
          <a:xfrm>
            <a:off x="1261800" y="1489500"/>
            <a:ext cx="10092000" cy="3879000"/>
          </a:xfrm>
          <a:prstGeom prst="rect"/>
          <a:noFill/>
          <a:ln>
            <a:noFill/>
          </a:ln>
        </p:spPr>
        <p:txBody>
          <a:bodyPr anchor="t" anchorCtr="0" bIns="91425" lIns="91425" rIns="91425" spcFirstLastPara="1" tIns="91425" wrap="square">
            <a:spAutoFit/>
          </a:bodyPr>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This module enables efficient integration and exchange of healthcare data using the Fast Healthcare Interoperability Resources (FHIR) standard.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It collects patient information such as medical history, glucose levels, laboratory reports, and clinical records from different healthcare systems and converts them into a standardized format. </a:t>
            </a:r>
            <a:endParaRPr b="0" cap="none" sz="2400" i="0" strike="noStrike" u="none">
              <a:solidFill>
                <a:schemeClr val="dk1"/>
              </a:solidFill>
              <a:latin typeface="Times New Roman"/>
              <a:ea typeface="Times New Roman"/>
              <a:cs typeface="Times New Roman"/>
              <a:sym typeface="Times New Roman"/>
            </a:endParaRPr>
          </a:p>
          <a:p>
            <a:pPr algn="just" indent="-323850" lvl="0" marL="457200" marR="0" rtl="0">
              <a:lnSpc>
                <a:spcPct val="150000"/>
              </a:lnSpc>
              <a:spcBef>
                <a:spcPts val="0"/>
              </a:spcBef>
              <a:spcAft>
                <a:spcPts val="0"/>
              </a:spcAft>
              <a:buClr>
                <a:schemeClr val="dk1"/>
              </a:buClr>
              <a:buSzPts val="1500"/>
              <a:buFont typeface="Times New Roman"/>
              <a:buChar char="●"/>
            </a:pPr>
            <a:r>
              <a:rPr b="0" cap="none" sz="2400" i="0" lang="en-US" strike="noStrike" u="none">
                <a:solidFill>
                  <a:schemeClr val="dk1"/>
                </a:solidFill>
                <a:latin typeface="Times New Roman"/>
                <a:ea typeface="Times New Roman"/>
                <a:cs typeface="Times New Roman"/>
                <a:sym typeface="Times New Roman"/>
              </a:rPr>
              <a:t>Using FHIR, the framework ensures secure data sharing between hospitals, electronic health record systems, and the clinical decision support system.</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95" name="Shape 426"/>
        <p:cNvGrpSpPr/>
        <p:nvPr/>
      </p:nvGrpSpPr>
      <p:grpSpPr>
        <a:xfrm>
          <a:off x="0" y="0"/>
          <a:ext cx="0" cy="0"/>
          <a:chOff x="0" y="0"/>
          <a:chExt cx="0" cy="0"/>
        </a:xfrm>
      </p:grpSpPr>
      <p:sp>
        <p:nvSpPr>
          <p:cNvPr id="1048843" name="Google Shape;427;g3cfc572c2db_0_116"/>
          <p:cNvSpPr txBox="1"/>
          <p:nvPr>
            <p:ph type="title"/>
          </p:nvPr>
        </p:nvSpPr>
        <p:spPr>
          <a:xfrm>
            <a:off x="584150" y="365125"/>
            <a:ext cx="10769700" cy="7224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IMPLEMENTATION OF THE PROPOSED SYSTEM</a:t>
            </a:r>
            <a:endParaRPr b="1" sz="3200">
              <a:latin typeface="Times New Roman"/>
              <a:ea typeface="Times New Roman"/>
              <a:cs typeface="Times New Roman"/>
              <a:sym typeface="Times New Roman"/>
            </a:endParaRPr>
          </a:p>
        </p:txBody>
      </p:sp>
      <p:sp>
        <p:nvSpPr>
          <p:cNvPr id="1048844" name="Google Shape;428;g3cfc572c2db_0_116"/>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43</a:t>
            </a:fld>
          </a:p>
        </p:txBody>
      </p:sp>
      <p:graphicFrame>
        <p:nvGraphicFramePr>
          <p:cNvPr id="4194304" name="Google Shape;429;g3cfc572c2db_0_116"/>
          <p:cNvGraphicFramePr>
            <a:graphicFrameLocks/>
          </p:cNvGraphicFramePr>
          <p:nvPr/>
        </p:nvGraphicFramePr>
        <p:xfrm>
          <a:off x="765175" y="1475575"/>
          <a:ext cx="3000000" cy="3000000"/>
        </p:xfrm>
        <a:graphic>
          <a:graphicData uri="http://schemas.openxmlformats.org/drawingml/2006/table">
            <a:tbl>
              <a:tblPr>
                <a:noFill/>
                <a:tableStyleId>{404EE65B-5B3F-4B7A-AB99-EEA04E0E6037}</a:tableStyleId>
              </a:tblPr>
              <a:tblGrid>
                <a:gridCol w="1494225"/>
                <a:gridCol w="1494225"/>
                <a:gridCol w="1494225"/>
                <a:gridCol w="1494225"/>
                <a:gridCol w="1494225"/>
                <a:gridCol w="1494225"/>
                <a:gridCol w="1494225"/>
              </a:tblGrid>
              <a:tr h="56750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Model </a:t>
                      </a:r>
                      <a:endParaRPr b="1" cap="none" sz="1800" strike="noStrike" u="none">
                        <a:latin typeface="Times New Roman"/>
                        <a:ea typeface="Times New Roman"/>
                        <a:cs typeface="Times New Roman"/>
                        <a:sym typeface="Times New Roman"/>
                      </a:endParaRPr>
                    </a:p>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architecture</a:t>
                      </a:r>
                      <a:endParaRPr b="1" cap="none" sz="1800" strike="noStrike" u="none">
                        <a:latin typeface="Times New Roman"/>
                        <a:ea typeface="Times New Roman"/>
                        <a:cs typeface="Times New Roman"/>
                        <a:sym typeface="Times New Roman"/>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Accuracy</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Precision</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Recall</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F1 Score</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AUC</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Training </a:t>
                      </a:r>
                      <a:endParaRPr b="1" cap="none" sz="1800" strike="noStrike" u="none">
                        <a:latin typeface="Times New Roman"/>
                        <a:ea typeface="Times New Roman"/>
                        <a:cs typeface="Times New Roman"/>
                        <a:sym typeface="Times New Roman"/>
                      </a:endParaRPr>
                    </a:p>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Time</a:t>
                      </a:r>
                      <a:endParaRPr b="1" cap="none" sz="1800" strike="noStrike" u="none">
                        <a:latin typeface="Times New Roman"/>
                        <a:ea typeface="Times New Roman"/>
                        <a:cs typeface="Times New Roman"/>
                        <a:sym typeface="Times New Roman"/>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13505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Logistic</a:t>
                      </a:r>
                      <a:endParaRPr b="1" cap="none" sz="1800" strike="noStrike" u="none">
                        <a:latin typeface="Times New Roman"/>
                        <a:ea typeface="Times New Roman"/>
                        <a:cs typeface="Times New Roman"/>
                        <a:sym typeface="Times New Roman"/>
                      </a:endParaRPr>
                    </a:p>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Regression</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76.00%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72.00%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68.00%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70.00%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0.82</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120ms</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13505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Random Forest</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82.00%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79.00%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75.00%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77.00%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0.88</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450ms</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1480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ANN</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84.00%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81.00%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78.00%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79.00%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0.9</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1200ms</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1480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DNN</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86.00%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83.00%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80.00%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81.00%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0.92</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2500ms</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614800">
                <a:tc>
                  <a:txBody>
                    <a:bodyPr/>
                    <a:p>
                      <a:pPr algn="ctr" indent="0" lvl="0" marL="0" marR="0" rtl="0">
                        <a:lnSpc>
                          <a:spcPct val="115000"/>
                        </a:lnSpc>
                        <a:spcBef>
                          <a:spcPts val="0"/>
                        </a:spcBef>
                        <a:spcAft>
                          <a:spcPts val="0"/>
                        </a:spcAft>
                        <a:buClr>
                          <a:srgbClr val="000000"/>
                        </a:buClr>
                        <a:buSzPts val="1800"/>
                        <a:buFont typeface="Arial"/>
                        <a:buNone/>
                      </a:pPr>
                      <a:r>
                        <a:rPr b="1" cap="none" sz="1800" lang="en-US" strike="noStrike" u="none">
                          <a:latin typeface="Times New Roman"/>
                          <a:ea typeface="Times New Roman"/>
                          <a:cs typeface="Times New Roman"/>
                          <a:sym typeface="Times New Roman"/>
                        </a:rPr>
                        <a:t>Ensemble</a:t>
                      </a:r>
                      <a:endParaRPr b="1" cap="none" sz="18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88.00%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85.00%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82.00%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83.00%</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0.94</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p>
                      <a:pPr algn="ctr" indent="0" lvl="0" marL="0" marR="0" rtl="0">
                        <a:lnSpc>
                          <a:spcPct val="115000"/>
                        </a:lnSpc>
                        <a:spcBef>
                          <a:spcPts val="0"/>
                        </a:spcBef>
                        <a:spcAft>
                          <a:spcPts val="0"/>
                        </a:spcAft>
                        <a:buClr>
                          <a:srgbClr val="000000"/>
                        </a:buClr>
                        <a:buSzPts val="2000"/>
                        <a:buFont typeface="Arial"/>
                        <a:buNone/>
                      </a:pPr>
                      <a:r>
                        <a:rPr cap="none" sz="2000" lang="en-US" strike="noStrike" u="none">
                          <a:latin typeface="Times New Roman"/>
                          <a:ea typeface="Times New Roman"/>
                          <a:cs typeface="Times New Roman"/>
                          <a:sym typeface="Times New Roman"/>
                        </a:rPr>
                        <a:t>3200ms</a:t>
                      </a:r>
                      <a:endParaRPr cap="none" sz="2000" strike="noStrike" u="none">
                        <a:latin typeface="Times New Roman"/>
                        <a:ea typeface="Times New Roman"/>
                        <a:cs typeface="Times New Roman"/>
                        <a:sym typeface="Times New Roman"/>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98" name="Shape 434"/>
        <p:cNvGrpSpPr/>
        <p:nvPr/>
      </p:nvGrpSpPr>
      <p:grpSpPr>
        <a:xfrm>
          <a:off x="0" y="0"/>
          <a:ext cx="0" cy="0"/>
          <a:chOff x="0" y="0"/>
          <a:chExt cx="0" cy="0"/>
        </a:xfrm>
      </p:grpSpPr>
      <p:sp>
        <p:nvSpPr>
          <p:cNvPr id="1048848" name="Google Shape;435;g3c5c4fec69c_0_0"/>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44</a:t>
            </a:fld>
          </a:p>
        </p:txBody>
      </p:sp>
      <p:sp>
        <p:nvSpPr>
          <p:cNvPr id="1048849" name="Google Shape;436;g3c5c4fec69c_0_0"/>
          <p:cNvSpPr txBox="1"/>
          <p:nvPr/>
        </p:nvSpPr>
        <p:spPr>
          <a:xfrm>
            <a:off x="842325" y="1232825"/>
            <a:ext cx="10359600" cy="3879000"/>
          </a:xfrm>
          <a:prstGeom prst="rect"/>
          <a:noFill/>
          <a:ln>
            <a:noFill/>
          </a:ln>
        </p:spPr>
        <p:txBody>
          <a:bodyPr anchor="t" anchorCtr="0" bIns="91425" lIns="91425" rIns="91425" spcFirstLastPara="1" tIns="91425" wrap="square">
            <a:spAutoFit/>
          </a:bodyPr>
          <a:p>
            <a:pPr algn="just" indent="0" lvl="0" marL="0" marR="0" rtl="0">
              <a:lnSpc>
                <a:spcPct val="100000"/>
              </a:lnSpc>
              <a:spcBef>
                <a:spcPts val="0"/>
              </a:spcBef>
              <a:spcAft>
                <a:spcPts val="0"/>
              </a:spcAft>
              <a:buClr>
                <a:schemeClr val="dk1"/>
              </a:buClr>
              <a:buSzPts val="1100"/>
              <a:buFont typeface="Arial"/>
              <a:buNone/>
            </a:pPr>
            <a:r>
              <a:rPr b="0" cap="none" sz="2400" i="0" lang="en-US" strike="noStrike" u="none">
                <a:solidFill>
                  <a:schemeClr val="dk1"/>
                </a:solidFill>
                <a:latin typeface="Times New Roman"/>
                <a:ea typeface="Times New Roman"/>
                <a:cs typeface="Times New Roman"/>
                <a:sym typeface="Times New Roman"/>
              </a:rPr>
              <a:t>The table compares the performance of different models used in the proposed system. The Logistic Regression model achieved 76% accuracy, while Random Forest improved it to 82%. The ANN and DNN models further increased the accuracy to 84% and 86%, showing better prediction performance.</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chemeClr val="dk1"/>
              </a:buClr>
              <a:buSzPts val="1100"/>
              <a:buFont typeface="Arial"/>
              <a:buNone/>
            </a:pPr>
            <a:r>
              <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chemeClr val="dk1"/>
              </a:buClr>
              <a:buSzPts val="1100"/>
              <a:buFont typeface="Arial"/>
              <a:buNone/>
            </a:pPr>
            <a:r>
              <a:rPr b="0" cap="none" sz="2400" i="0" lang="en-US" strike="noStrike" u="none">
                <a:solidFill>
                  <a:schemeClr val="dk1"/>
                </a:solidFill>
                <a:latin typeface="Times New Roman"/>
                <a:ea typeface="Times New Roman"/>
                <a:cs typeface="Times New Roman"/>
                <a:sym typeface="Times New Roman"/>
              </a:rPr>
              <a:t>Among all models, the Ensemble model produced the best results with 88% accuracy, 85% precision, 82% recall, and 83% F1-score. It also achieved the highest AUC value of 0.94, indicating better and more reliable classification performance.</a:t>
            </a:r>
            <a:endParaRPr b="0" cap="none" sz="2400" i="0" strike="noStrike" u="none">
              <a:solidFill>
                <a:schemeClr val="dk1"/>
              </a:solidFill>
              <a:latin typeface="Times New Roman"/>
              <a:ea typeface="Times New Roman"/>
              <a:cs typeface="Times New Roman"/>
              <a:sym typeface="Times New Roman"/>
            </a:endParaRPr>
          </a:p>
          <a:p>
            <a:pPr algn="just" indent="0" lvl="0" marL="0" marR="0" rtl="0">
              <a:lnSpc>
                <a:spcPct val="100000"/>
              </a:lnSpc>
              <a:spcBef>
                <a:spcPts val="0"/>
              </a:spcBef>
              <a:spcAft>
                <a:spcPts val="0"/>
              </a:spcAft>
              <a:buClr>
                <a:srgbClr val="000000"/>
              </a:buClr>
              <a:buSzPts val="2400"/>
              <a:buFont typeface="Arial"/>
              <a:buNone/>
            </a:pPr>
            <a:r>
              <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01" name="Shape 441"/>
        <p:cNvGrpSpPr/>
        <p:nvPr/>
      </p:nvGrpSpPr>
      <p:grpSpPr>
        <a:xfrm>
          <a:off x="0" y="0"/>
          <a:ext cx="0" cy="0"/>
          <a:chOff x="0" y="0"/>
          <a:chExt cx="0" cy="0"/>
        </a:xfrm>
      </p:grpSpPr>
      <p:sp>
        <p:nvSpPr>
          <p:cNvPr id="1048853" name="Google Shape;442;g3c5c4fec69c_0_13"/>
          <p:cNvSpPr txBox="1"/>
          <p:nvPr>
            <p:ph type="title"/>
          </p:nvPr>
        </p:nvSpPr>
        <p:spPr>
          <a:xfrm>
            <a:off x="487325" y="365125"/>
            <a:ext cx="10737300" cy="6417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IMPLEMENTATION OF THE PROPOSED SYSTEM</a:t>
            </a:r>
          </a:p>
        </p:txBody>
      </p:sp>
      <p:sp>
        <p:nvSpPr>
          <p:cNvPr id="1048854" name="Google Shape;443;g3c5c4fec69c_0_13"/>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45</a:t>
            </a:fld>
          </a:p>
        </p:txBody>
      </p:sp>
      <p:sp>
        <p:nvSpPr>
          <p:cNvPr id="1048855" name="Google Shape;444;g3c5c4fec69c_0_13"/>
          <p:cNvSpPr txBox="1"/>
          <p:nvPr/>
        </p:nvSpPr>
        <p:spPr>
          <a:xfrm>
            <a:off x="1855625" y="5595775"/>
            <a:ext cx="3259500" cy="5541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Logistic Regression</a:t>
            </a:r>
            <a:endParaRPr b="1" cap="none" sz="2400" i="0" strike="noStrike" u="none">
              <a:solidFill>
                <a:schemeClr val="dk1"/>
              </a:solidFill>
              <a:latin typeface="Times New Roman"/>
              <a:ea typeface="Times New Roman"/>
              <a:cs typeface="Times New Roman"/>
              <a:sym typeface="Times New Roman"/>
            </a:endParaRPr>
          </a:p>
        </p:txBody>
      </p:sp>
      <p:sp>
        <p:nvSpPr>
          <p:cNvPr id="1048856" name="Google Shape;445;g3c5c4fec69c_0_13"/>
          <p:cNvSpPr txBox="1"/>
          <p:nvPr/>
        </p:nvSpPr>
        <p:spPr>
          <a:xfrm>
            <a:off x="7175025" y="5595775"/>
            <a:ext cx="3195000" cy="5541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Random Forest</a:t>
            </a:r>
            <a:endParaRPr b="1" cap="none" sz="2400" i="0" strike="noStrike" u="none">
              <a:solidFill>
                <a:schemeClr val="dk1"/>
              </a:solidFill>
              <a:latin typeface="Times New Roman"/>
              <a:ea typeface="Times New Roman"/>
              <a:cs typeface="Times New Roman"/>
              <a:sym typeface="Times New Roman"/>
            </a:endParaRPr>
          </a:p>
        </p:txBody>
      </p:sp>
      <p:pic>
        <p:nvPicPr>
          <p:cNvPr id="2097161" name="Google Shape;446;g3c5c4fec69c_0_13" title="LOGISTIC .jpeg"/>
          <p:cNvPicPr preferRelativeResize="0">
            <a:picLocks/>
          </p:cNvPicPr>
          <p:nvPr/>
        </p:nvPicPr>
        <p:blipFill rotWithShape="1">
          <a:blip xmlns:r="http://schemas.openxmlformats.org/officeDocument/2006/relationships" r:embed="rId1">
            <a:alphaModFix/>
          </a:blip>
          <a:srcRect l="0" t="0" r="0" b="0"/>
          <a:stretch>
            <a:fillRect/>
          </a:stretch>
        </p:blipFill>
        <p:spPr>
          <a:xfrm>
            <a:off x="819600" y="1458725"/>
            <a:ext cx="4944300" cy="3930576"/>
          </a:xfrm>
          <a:prstGeom prst="rect"/>
          <a:noFill/>
          <a:ln>
            <a:noFill/>
          </a:ln>
        </p:spPr>
      </p:pic>
      <p:pic>
        <p:nvPicPr>
          <p:cNvPr id="2097162" name="Google Shape;447;g3c5c4fec69c_0_13" title="RANDOM.jpeg"/>
          <p:cNvPicPr preferRelativeResize="0">
            <a:picLocks/>
          </p:cNvPicPr>
          <p:nvPr/>
        </p:nvPicPr>
        <p:blipFill rotWithShape="1">
          <a:blip xmlns:r="http://schemas.openxmlformats.org/officeDocument/2006/relationships" r:embed="rId2">
            <a:alphaModFix/>
          </a:blip>
          <a:srcRect l="0" t="0" r="0" b="0"/>
          <a:stretch>
            <a:fillRect/>
          </a:stretch>
        </p:blipFill>
        <p:spPr>
          <a:xfrm>
            <a:off x="6096000" y="1458725"/>
            <a:ext cx="5353050" cy="3930576"/>
          </a:xfrm>
          <a:prstGeom prst="rect"/>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04" name="Shape 452"/>
        <p:cNvGrpSpPr/>
        <p:nvPr/>
      </p:nvGrpSpPr>
      <p:grpSpPr>
        <a:xfrm>
          <a:off x="0" y="0"/>
          <a:ext cx="0" cy="0"/>
          <a:chOff x="0" y="0"/>
          <a:chExt cx="0" cy="0"/>
        </a:xfrm>
      </p:grpSpPr>
      <p:sp>
        <p:nvSpPr>
          <p:cNvPr id="1048860" name="Google Shape;453;g3c5cdc51c6d_0_4"/>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46</a:t>
            </a:fld>
          </a:p>
        </p:txBody>
      </p:sp>
      <p:sp>
        <p:nvSpPr>
          <p:cNvPr id="1048861" name="Google Shape;454;g3c5cdc51c6d_0_4"/>
          <p:cNvSpPr txBox="1"/>
          <p:nvPr/>
        </p:nvSpPr>
        <p:spPr>
          <a:xfrm>
            <a:off x="1649125" y="5573525"/>
            <a:ext cx="3598500" cy="5541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ANN</a:t>
            </a:r>
            <a:endParaRPr b="1" cap="none" sz="2400" i="0" strike="noStrike" u="none">
              <a:solidFill>
                <a:schemeClr val="dk1"/>
              </a:solidFill>
              <a:latin typeface="Times New Roman"/>
              <a:ea typeface="Times New Roman"/>
              <a:cs typeface="Times New Roman"/>
              <a:sym typeface="Times New Roman"/>
            </a:endParaRPr>
          </a:p>
        </p:txBody>
      </p:sp>
      <p:sp>
        <p:nvSpPr>
          <p:cNvPr id="1048862" name="Google Shape;455;g3c5cdc51c6d_0_4"/>
          <p:cNvSpPr txBox="1"/>
          <p:nvPr/>
        </p:nvSpPr>
        <p:spPr>
          <a:xfrm>
            <a:off x="7311712" y="5573513"/>
            <a:ext cx="3679200" cy="5541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DNN</a:t>
            </a:r>
            <a:endParaRPr b="1" cap="none" sz="2400" i="0" strike="noStrike" u="none">
              <a:solidFill>
                <a:schemeClr val="dk1"/>
              </a:solidFill>
              <a:latin typeface="Times New Roman"/>
              <a:ea typeface="Times New Roman"/>
              <a:cs typeface="Times New Roman"/>
              <a:sym typeface="Times New Roman"/>
            </a:endParaRPr>
          </a:p>
        </p:txBody>
      </p:sp>
      <p:pic>
        <p:nvPicPr>
          <p:cNvPr id="2097163" name="Google Shape;456;g3c5cdc51c6d_0_4" title="ANN.jpeg"/>
          <p:cNvPicPr preferRelativeResize="0">
            <a:picLocks/>
          </p:cNvPicPr>
          <p:nvPr/>
        </p:nvPicPr>
        <p:blipFill rotWithShape="1">
          <a:blip xmlns:r="http://schemas.openxmlformats.org/officeDocument/2006/relationships" r:embed="rId1">
            <a:alphaModFix/>
          </a:blip>
          <a:srcRect l="0" t="0" r="0" b="0"/>
          <a:stretch>
            <a:fillRect/>
          </a:stretch>
        </p:blipFill>
        <p:spPr>
          <a:xfrm>
            <a:off x="610500" y="845900"/>
            <a:ext cx="5353050" cy="4437525"/>
          </a:xfrm>
          <a:prstGeom prst="rect"/>
          <a:noFill/>
          <a:ln>
            <a:noFill/>
          </a:ln>
        </p:spPr>
      </p:pic>
      <p:pic>
        <p:nvPicPr>
          <p:cNvPr id="2097164" name="Google Shape;457;g3c5cdc51c6d_0_4" title="DNN.jpeg"/>
          <p:cNvPicPr preferRelativeResize="0">
            <a:picLocks/>
          </p:cNvPicPr>
          <p:nvPr/>
        </p:nvPicPr>
        <p:blipFill rotWithShape="1">
          <a:blip xmlns:r="http://schemas.openxmlformats.org/officeDocument/2006/relationships" r:embed="rId2">
            <a:alphaModFix/>
          </a:blip>
          <a:srcRect l="0" t="0" r="0" b="0"/>
          <a:stretch>
            <a:fillRect/>
          </a:stretch>
        </p:blipFill>
        <p:spPr>
          <a:xfrm>
            <a:off x="6265025" y="845900"/>
            <a:ext cx="5353050" cy="4437525"/>
          </a:xfrm>
          <a:prstGeom prst="rect"/>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07" name="Shape 462"/>
        <p:cNvGrpSpPr/>
        <p:nvPr/>
      </p:nvGrpSpPr>
      <p:grpSpPr>
        <a:xfrm>
          <a:off x="0" y="0"/>
          <a:ext cx="0" cy="0"/>
          <a:chOff x="0" y="0"/>
          <a:chExt cx="0" cy="0"/>
        </a:xfrm>
      </p:grpSpPr>
      <p:sp>
        <p:nvSpPr>
          <p:cNvPr id="1048866" name="Google Shape;463;g3c5cdc51c6d_0_15"/>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47</a:t>
            </a:fld>
          </a:p>
        </p:txBody>
      </p:sp>
      <p:pic>
        <p:nvPicPr>
          <p:cNvPr id="2097165" name="Google Shape;464;g3c5cdc51c6d_0_15" title="ENSEMBLE.jpeg"/>
          <p:cNvPicPr preferRelativeResize="0">
            <a:picLocks/>
          </p:cNvPicPr>
          <p:nvPr/>
        </p:nvPicPr>
        <p:blipFill rotWithShape="1">
          <a:blip xmlns:r="http://schemas.openxmlformats.org/officeDocument/2006/relationships" r:embed="rId1">
            <a:alphaModFix/>
          </a:blip>
          <a:srcRect l="0" t="0" r="0" b="0"/>
          <a:stretch>
            <a:fillRect/>
          </a:stretch>
        </p:blipFill>
        <p:spPr>
          <a:xfrm>
            <a:off x="2303938" y="701025"/>
            <a:ext cx="7229125" cy="4333875"/>
          </a:xfrm>
          <a:prstGeom prst="rect"/>
          <a:noFill/>
          <a:ln>
            <a:noFill/>
          </a:ln>
        </p:spPr>
      </p:pic>
      <p:sp>
        <p:nvSpPr>
          <p:cNvPr id="1048867" name="Google Shape;465;g3c5cdc51c6d_0_15"/>
          <p:cNvSpPr txBox="1"/>
          <p:nvPr/>
        </p:nvSpPr>
        <p:spPr>
          <a:xfrm>
            <a:off x="3228502" y="5305625"/>
            <a:ext cx="5585100" cy="554100"/>
          </a:xfrm>
          <a:prstGeom prst="rect"/>
          <a:noFill/>
          <a:ln>
            <a:noFill/>
          </a:ln>
        </p:spPr>
        <p:txBody>
          <a:bodyPr anchor="t" anchorCtr="0" bIns="91425" lIns="91425" rIns="91425" spcFirstLastPara="1" tIns="91425" wrap="square">
            <a:spAutoFit/>
          </a:bodyPr>
          <a:p>
            <a:pPr algn="ctr" indent="0" lvl="0" marL="0" marR="0" rtl="0">
              <a:lnSpc>
                <a:spcPct val="100000"/>
              </a:lnSpc>
              <a:spcBef>
                <a:spcPts val="0"/>
              </a:spcBef>
              <a:spcAft>
                <a:spcPts val="0"/>
              </a:spcAft>
              <a:buClr>
                <a:srgbClr val="000000"/>
              </a:buClr>
              <a:buSzPts val="2400"/>
              <a:buFont typeface="Arial"/>
              <a:buNone/>
            </a:pPr>
            <a:r>
              <a:rPr b="1" cap="none" sz="2400" i="0" lang="en-US" strike="noStrike" u="none">
                <a:solidFill>
                  <a:schemeClr val="dk1"/>
                </a:solidFill>
                <a:latin typeface="Times New Roman"/>
                <a:ea typeface="Times New Roman"/>
                <a:cs typeface="Times New Roman"/>
                <a:sym typeface="Times New Roman"/>
              </a:rPr>
              <a:t>Ensemble</a:t>
            </a:r>
            <a:endParaRPr b="1"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10" name="Shape 470"/>
        <p:cNvGrpSpPr/>
        <p:nvPr/>
      </p:nvGrpSpPr>
      <p:grpSpPr>
        <a:xfrm>
          <a:off x="0" y="0"/>
          <a:ext cx="0" cy="0"/>
          <a:chOff x="0" y="0"/>
          <a:chExt cx="0" cy="0"/>
        </a:xfrm>
      </p:grpSpPr>
      <p:sp>
        <p:nvSpPr>
          <p:cNvPr id="1048871" name="Google Shape;471;g3c5cdc51c6d_0_27"/>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48</a:t>
            </a:fld>
          </a:p>
        </p:txBody>
      </p:sp>
      <p:sp>
        <p:nvSpPr>
          <p:cNvPr id="1048872" name="Google Shape;472;g3c5cdc51c6d_0_27"/>
          <p:cNvSpPr txBox="1"/>
          <p:nvPr/>
        </p:nvSpPr>
        <p:spPr>
          <a:xfrm>
            <a:off x="971400" y="1168300"/>
            <a:ext cx="10382400" cy="3879000"/>
          </a:xfrm>
          <a:prstGeom prst="rect"/>
          <a:noFill/>
          <a:ln>
            <a:noFill/>
          </a:ln>
        </p:spPr>
        <p:txBody>
          <a:bodyPr anchor="t" anchorCtr="0" bIns="91425" lIns="91425" rIns="91425" spcFirstLastPara="1" tIns="91425" wrap="square">
            <a:spAutoFit/>
          </a:bodyPr>
          <a:p>
            <a:pPr algn="just" indent="0" lvl="0" marL="0" marR="0" rtl="0">
              <a:lnSpc>
                <a:spcPct val="150000"/>
              </a:lnSpc>
              <a:spcBef>
                <a:spcPts val="0"/>
              </a:spcBef>
              <a:spcAft>
                <a:spcPts val="0"/>
              </a:spcAft>
              <a:buClr>
                <a:srgbClr val="000000"/>
              </a:buClr>
              <a:buSzPts val="2400"/>
              <a:buFont typeface="Arial"/>
              <a:buNone/>
            </a:pPr>
            <a:r>
              <a:rPr b="0" cap="none" sz="2400" i="0" lang="en-US" strike="noStrike" u="none">
                <a:solidFill>
                  <a:schemeClr val="dk1"/>
                </a:solidFill>
                <a:latin typeface="Times New Roman"/>
                <a:ea typeface="Times New Roman"/>
                <a:cs typeface="Times New Roman"/>
                <a:sym typeface="Times New Roman"/>
              </a:rPr>
              <a:t>The graphs compare the performance of five machine learning models: Logistic Regression, Random Forest, ANN, DNN, and Ensemble using Accuracy, Precision, Recall, F1-Score, and AUC. Logistic Regression shows moderate performance, while Random Forest and ANN provide better results. DNN achieves higher accuracy and balanced metrics. The Ensemble model performs the best overall, showing that combining multiple models improves prediction accuracy and reliability.</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13" name="Shape 477"/>
        <p:cNvGrpSpPr/>
        <p:nvPr/>
      </p:nvGrpSpPr>
      <p:grpSpPr>
        <a:xfrm>
          <a:off x="0" y="0"/>
          <a:ext cx="0" cy="0"/>
          <a:chOff x="0" y="0"/>
          <a:chExt cx="0" cy="0"/>
        </a:xfrm>
      </p:grpSpPr>
      <p:sp>
        <p:nvSpPr>
          <p:cNvPr id="1048876" name="Google Shape;478;g3cfc572c2db_0_123"/>
          <p:cNvSpPr txBox="1"/>
          <p:nvPr>
            <p:ph type="title"/>
          </p:nvPr>
        </p:nvSpPr>
        <p:spPr>
          <a:xfrm>
            <a:off x="584150" y="542625"/>
            <a:ext cx="10769700" cy="9162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CONCLUSION</a:t>
            </a:r>
            <a:endParaRPr b="1" sz="3200">
              <a:latin typeface="Times New Roman"/>
              <a:ea typeface="Times New Roman"/>
              <a:cs typeface="Times New Roman"/>
              <a:sym typeface="Times New Roman"/>
            </a:endParaRPr>
          </a:p>
        </p:txBody>
      </p:sp>
      <p:sp>
        <p:nvSpPr>
          <p:cNvPr id="1048877" name="Google Shape;479;g3cfc572c2db_0_123"/>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49</a:t>
            </a:fld>
          </a:p>
        </p:txBody>
      </p:sp>
      <p:sp>
        <p:nvSpPr>
          <p:cNvPr id="1048878" name="Google Shape;480;g3cfc572c2db_0_123"/>
          <p:cNvSpPr txBox="1"/>
          <p:nvPr/>
        </p:nvSpPr>
        <p:spPr>
          <a:xfrm>
            <a:off x="1116650" y="1640325"/>
            <a:ext cx="10237200" cy="2770500"/>
          </a:xfrm>
          <a:prstGeom prst="rect"/>
          <a:noFill/>
          <a:ln>
            <a:noFill/>
          </a:ln>
        </p:spPr>
        <p:txBody>
          <a:bodyPr anchor="t" anchorCtr="0" bIns="91425" lIns="91425" rIns="91425" spcFirstLastPara="1" tIns="91425" wrap="square">
            <a:spAutoFit/>
          </a:bodyPr>
          <a:p>
            <a:pPr algn="just" indent="0" lvl="0" marL="0" marR="131781" rtl="0">
              <a:lnSpc>
                <a:spcPct val="150000"/>
              </a:lnSpc>
              <a:spcBef>
                <a:spcPts val="0"/>
              </a:spcBef>
              <a:spcAft>
                <a:spcPts val="0"/>
              </a:spcAft>
              <a:buClr>
                <a:srgbClr val="000000"/>
              </a:buClr>
              <a:buSzPts val="2400"/>
              <a:buFont typeface="Arial"/>
              <a:buNone/>
            </a:pPr>
            <a:r>
              <a:rPr b="0" cap="none" sz="2400" i="0" lang="en-US" strike="noStrike" u="none">
                <a:solidFill>
                  <a:schemeClr val="dk1"/>
                </a:solidFill>
                <a:latin typeface="Times New Roman"/>
                <a:ea typeface="Times New Roman"/>
                <a:cs typeface="Times New Roman"/>
                <a:sym typeface="Times New Roman"/>
              </a:rPr>
              <a:t>This project develops a diabetes prediction system using deep learning and ensemble models. It analyzes patient data such as glucose, BMI, blood pressure, and age to predict diabetes risk. By combining multiple models, the system improves prediction accuracy and helps support early detection and better medical decision‑making.</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16" name="Shape 485"/>
        <p:cNvGrpSpPr/>
        <p:nvPr/>
      </p:nvGrpSpPr>
      <p:grpSpPr>
        <a:xfrm>
          <a:off x="0" y="0"/>
          <a:ext cx="0" cy="0"/>
          <a:chOff x="0" y="0"/>
          <a:chExt cx="0" cy="0"/>
        </a:xfrm>
      </p:grpSpPr>
      <p:sp>
        <p:nvSpPr>
          <p:cNvPr id="1048882" name="Google Shape;486;g3cfc572c2db_0_130"/>
          <p:cNvSpPr txBox="1"/>
          <p:nvPr>
            <p:ph type="title"/>
          </p:nvPr>
        </p:nvSpPr>
        <p:spPr>
          <a:xfrm>
            <a:off x="648600" y="510350"/>
            <a:ext cx="10705200" cy="754800"/>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SzPts val="1800"/>
              <a:buNone/>
            </a:pPr>
            <a:r>
              <a:rPr b="1" sz="3200" lang="en-US">
                <a:latin typeface="Times New Roman"/>
                <a:ea typeface="Times New Roman"/>
                <a:cs typeface="Times New Roman"/>
                <a:sym typeface="Times New Roman"/>
              </a:rPr>
              <a:t>FUTURE ENHANCEMENT</a:t>
            </a:r>
            <a:endParaRPr b="1" sz="3200">
              <a:latin typeface="Times New Roman"/>
              <a:ea typeface="Times New Roman"/>
              <a:cs typeface="Times New Roman"/>
              <a:sym typeface="Times New Roman"/>
            </a:endParaRPr>
          </a:p>
        </p:txBody>
      </p:sp>
      <p:sp>
        <p:nvSpPr>
          <p:cNvPr id="1048883" name="Google Shape;487;g3cfc572c2db_0_130"/>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Clr>
                <a:srgbClr val="000000"/>
              </a:buClr>
              <a:buSzPts val="1200"/>
              <a:buFont typeface="Arial"/>
              <a:buNone/>
            </a:pPr>
            <a:fld id="{00000000-1234-1234-1234-123412341234}" type="slidenum">
              <a:rPr lang="en-US"/>
              <a:t>50</a:t>
            </a:fld>
          </a:p>
        </p:txBody>
      </p:sp>
      <p:sp>
        <p:nvSpPr>
          <p:cNvPr id="1048884" name="Google Shape;488;g3cfc572c2db_0_130"/>
          <p:cNvSpPr txBox="1"/>
          <p:nvPr/>
        </p:nvSpPr>
        <p:spPr>
          <a:xfrm>
            <a:off x="988800" y="1489500"/>
            <a:ext cx="10214400" cy="3879000"/>
          </a:xfrm>
          <a:prstGeom prst="rect"/>
          <a:noFill/>
          <a:ln>
            <a:noFill/>
          </a:ln>
        </p:spPr>
        <p:txBody>
          <a:bodyPr anchor="t" anchorCtr="0" bIns="91425" lIns="91425" rIns="91425" spcFirstLastPara="1" tIns="91425" wrap="square">
            <a:spAutoFit/>
          </a:bodyPr>
          <a:p>
            <a:pPr algn="just" indent="0" lvl="0" marL="0" marR="422238" rtl="0">
              <a:lnSpc>
                <a:spcPct val="150000"/>
              </a:lnSpc>
              <a:spcBef>
                <a:spcPts val="0"/>
              </a:spcBef>
              <a:spcAft>
                <a:spcPts val="0"/>
              </a:spcAft>
              <a:buClr>
                <a:srgbClr val="000000"/>
              </a:buClr>
              <a:buSzPts val="2400"/>
              <a:buFont typeface="Arial"/>
              <a:buNone/>
            </a:pPr>
            <a:r>
              <a:rPr b="0" cap="none" sz="2400" i="0" lang="en-US" strike="noStrike" u="none">
                <a:solidFill>
                  <a:schemeClr val="dk1"/>
                </a:solidFill>
                <a:latin typeface="Times New Roman"/>
                <a:ea typeface="Times New Roman"/>
                <a:cs typeface="Times New Roman"/>
                <a:sym typeface="Times New Roman"/>
              </a:rPr>
              <a:t>In the future, this system can be improved by using larger and real‑time medical datasets to increase prediction accuracy. The model can also be integrated with hospital management systems and mobile health applications for easier access by doctors and patients. Additionally, advanced deep learning techniques and IoT‑based health monitoring devices can be incorporated to provide continuous diabetes risk monitoring and personalized healthcare recommendations.</a:t>
            </a:r>
            <a:endParaRPr b="0" cap="none" sz="2400" i="0" strike="noStrike" u="none">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19" name="Shape 492"/>
        <p:cNvGrpSpPr/>
        <p:nvPr/>
      </p:nvGrpSpPr>
      <p:grpSpPr>
        <a:xfrm>
          <a:off x="0" y="0"/>
          <a:ext cx="0" cy="0"/>
          <a:chOff x="0" y="0"/>
          <a:chExt cx="0" cy="0"/>
        </a:xfrm>
      </p:grpSpPr>
      <p:sp>
        <p:nvSpPr>
          <p:cNvPr id="1048888" name="Google Shape;493;p62"/>
          <p:cNvSpPr txBox="1"/>
          <p:nvPr>
            <p:ph type="title"/>
          </p:nvPr>
        </p:nvSpPr>
        <p:spPr>
          <a:xfrm>
            <a:off x="2050691" y="2547535"/>
            <a:ext cx="7643700" cy="970500"/>
          </a:xfrm>
          <a:prstGeom prst="rect"/>
          <a:noFill/>
          <a:ln>
            <a:noFill/>
          </a:ln>
        </p:spPr>
        <p:txBody>
          <a:bodyPr anchor="ctr" anchorCtr="0" bIns="45700" lIns="91425" rIns="91425" spcFirstLastPara="1" tIns="45700" wrap="square">
            <a:noAutofit/>
          </a:bodyPr>
          <a:p>
            <a:pPr algn="ctr" indent="0" lvl="0" marL="0" rtl="0">
              <a:lnSpc>
                <a:spcPct val="90000"/>
              </a:lnSpc>
              <a:spcBef>
                <a:spcPts val="0"/>
              </a:spcBef>
              <a:spcAft>
                <a:spcPts val="0"/>
              </a:spcAft>
              <a:buClr>
                <a:schemeClr val="dk1"/>
              </a:buClr>
              <a:buSzPts val="12000"/>
              <a:buFont typeface="Arial"/>
              <a:buNone/>
            </a:pPr>
            <a:r>
              <a:rPr b="1" lang="en-US">
                <a:latin typeface="Times New Roman"/>
                <a:ea typeface="Times New Roman"/>
                <a:cs typeface="Times New Roman"/>
                <a:sym typeface="Times New Roman"/>
              </a:rPr>
              <a:t>Thank you.</a:t>
            </a:r>
            <a:endParaRPr b="1">
              <a:latin typeface="Times New Roman"/>
              <a:ea typeface="Times New Roman"/>
              <a:cs typeface="Times New Roman"/>
              <a:sym typeface="Times New Roman"/>
            </a:endParaRPr>
          </a:p>
        </p:txBody>
      </p:sp>
      <p:sp>
        <p:nvSpPr>
          <p:cNvPr id="1048889" name="Google Shape;494;p62"/>
          <p:cNvSpPr txBox="1"/>
          <p:nvPr>
            <p:ph type="sldNum" idx="12"/>
          </p:nvPr>
        </p:nvSpPr>
        <p:spPr>
          <a:xfrm>
            <a:off x="8610600" y="6356350"/>
            <a:ext cx="2743200" cy="365100"/>
          </a:xfrm>
          <a:prstGeom prst="rect"/>
          <a:noFill/>
          <a:ln>
            <a:noFill/>
          </a:ln>
        </p:spPr>
        <p:txBody>
          <a:bodyPr anchor="ctr" anchorCtr="0" bIns="45700" lIns="91425" rIns="91425" spcFirstLastPara="1" tIns="45700" wrap="square">
            <a:noAutofit/>
          </a:bodyPr>
          <a:p>
            <a:pPr algn="r" indent="0" lvl="0" marL="0" rtl="0">
              <a:lnSpc>
                <a:spcPct val="100000"/>
              </a:lnSpc>
              <a:spcBef>
                <a:spcPts val="0"/>
              </a:spcBef>
              <a:spcAft>
                <a:spcPts val="0"/>
              </a:spcAft>
              <a:buSzPts val="1200"/>
              <a:buNone/>
            </a:pPr>
            <a:fld id="{00000000-1234-1234-1234-123412341234}" type="slidenum">
              <a:rPr lang="en-US"/>
              <a:t>51</a:t>
            </a:fld>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CPH2695</dc:creator>
  <dcterms:created xsi:type="dcterms:W3CDTF">2026-03-29T14:08:07Z</dcterms:created>
  <dcterms:modified xsi:type="dcterms:W3CDTF">2026-03-29T14:08:07Z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de7aa741d2024e3f96926a9d702bad73</vt:lpwstr>
  </property>
</Properties>
</file>